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43"/>
  </p:notesMasterIdLst>
  <p:handoutMasterIdLst>
    <p:handoutMasterId r:id="rId44"/>
  </p:handoutMasterIdLst>
  <p:sldIdLst>
    <p:sldId id="312" r:id="rId5"/>
    <p:sldId id="304" r:id="rId6"/>
    <p:sldId id="281" r:id="rId7"/>
    <p:sldId id="332" r:id="rId8"/>
    <p:sldId id="342" r:id="rId9"/>
    <p:sldId id="343" r:id="rId10"/>
    <p:sldId id="340" r:id="rId11"/>
    <p:sldId id="339" r:id="rId12"/>
    <p:sldId id="338" r:id="rId13"/>
    <p:sldId id="329" r:id="rId14"/>
    <p:sldId id="282" r:id="rId15"/>
    <p:sldId id="325" r:id="rId16"/>
    <p:sldId id="328" r:id="rId17"/>
    <p:sldId id="333" r:id="rId18"/>
    <p:sldId id="337" r:id="rId19"/>
    <p:sldId id="336" r:id="rId20"/>
    <p:sldId id="330" r:id="rId21"/>
    <p:sldId id="334" r:id="rId22"/>
    <p:sldId id="331" r:id="rId23"/>
    <p:sldId id="326" r:id="rId24"/>
    <p:sldId id="327" r:id="rId25"/>
    <p:sldId id="324" r:id="rId26"/>
    <p:sldId id="307" r:id="rId27"/>
    <p:sldId id="314" r:id="rId28"/>
    <p:sldId id="315" r:id="rId29"/>
    <p:sldId id="317" r:id="rId30"/>
    <p:sldId id="319" r:id="rId31"/>
    <p:sldId id="318" r:id="rId32"/>
    <p:sldId id="345" r:id="rId33"/>
    <p:sldId id="321" r:id="rId34"/>
    <p:sldId id="350" r:id="rId35"/>
    <p:sldId id="351" r:id="rId36"/>
    <p:sldId id="349" r:id="rId37"/>
    <p:sldId id="344" r:id="rId38"/>
    <p:sldId id="347" r:id="rId39"/>
    <p:sldId id="322" r:id="rId40"/>
    <p:sldId id="348" r:id="rId41"/>
    <p:sldId id="297" r:id="rId4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C8B6"/>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4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83307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1AC39-11DB-EB29-17EF-C219416C5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29553-E74B-0B75-80B4-74BB422A073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DBB05E5-E614-291F-A654-201FE8D0D53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58613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C15D-BB3B-511B-AD32-DF3F40CAE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EADE9-FB6A-F0FF-2D68-1ABAF74226F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B905568-4B5E-1876-C12E-F03C3CC4381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79594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FDFE-7667-A506-ECB9-1930AFBCB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FCDAF-3D26-14F7-FC68-25D9F3F577B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636C0A9-1F2D-63B5-432C-D20D2075EB1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29670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982E-2635-2F84-2968-905493FEF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10480-EE1C-FB86-584B-A52CEBECA4E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C6C8B7D-764C-9A52-8A03-A79850C024C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28632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79BDC-2DCF-9899-A101-0B5973CC3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6A9CF-049C-5A3C-E9C2-5CE892ECC63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594D33A-7B47-82E5-10DC-22DCB0DADA7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07247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D49F0-1E91-AC5E-54E4-1006E2AAD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C4F57-725B-F022-CAE7-EC9E2743490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B1CBCF5-89F2-0486-CB05-486473B15BF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15584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9CD98-A682-1E8D-2A11-E5AFAC382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86F5F-AE25-4E88-F0E3-5FD0505DBDE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7AFC109-BCAB-5F13-13D1-E78F042486C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99281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EFBF2-CCF5-F755-94C5-B05F4604D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9E1E9-83E1-467D-71E5-AA944000D46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C0097EF-CBB2-AB8F-3392-04DFB1AC749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93955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ED837-0057-B3B3-F3BD-C0EB410DD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C7477-3CC5-6987-39CC-E0D99F16082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D45408C-F48A-1570-9585-0DACB18C9D5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43704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9FB2F-C042-C7D9-3A2D-57D1210B9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273E5-35CC-BFC7-C851-F7B6B064F8F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72285FF-A393-5B77-CEB5-B5204C79317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82180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5E0F6-DB07-2706-E45E-CF513244B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C48CF-7EFB-35A6-A4F7-3935223222F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5492757-831C-B492-E85D-51484ECCC54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07070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0637C-0B8D-712E-B58A-E9F4661A6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B085A-E5E5-DEF4-2E55-6C87BAA1B45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1F2D730-FC52-0EFA-535B-086B0A0EC00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83846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FF61B-9E68-441B-A57A-84B655CEA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C7A54-EB7E-C3A6-B9E7-97F135965E4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0A8F307-0301-8C60-F670-3B6B4EDC8D7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2405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B4822-A28B-6C4B-8603-DA3ED73F6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2D94E-FB4C-8731-A42C-C92A11A114C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49CBD0E-C1F5-FE0F-C6C4-A6D40980A98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73653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481C1-FD76-5D48-8182-06E3DF9E8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47341-538B-4E2F-71A2-DC78CC7E4C8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B116CDB-4330-4BD6-8B4F-88628932572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78871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3428C-4906-8F3A-D1CE-C2A76CC7F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653B2-98EC-3CCE-B004-2A5FC10248E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7D5E4F7-0918-E06C-1A59-47804F38C94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90190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0A70C-094D-4FB7-CE5B-D3D4D6A81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E8DB5-9877-A378-25ED-AF37CEDCB15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26D83A5-5C9B-ECAC-DE87-1D895138168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50299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0DF6-57CE-239E-6611-B53168719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CBA55-B216-D963-C39A-7A06E723463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3376FEE-217C-BB47-F161-8700FB5CC0B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808114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61877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7B6B-D926-A98B-61D9-94178CA3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B939F-D1A4-46FA-9342-8A0D9FF4972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3B88A5B-10B0-67E8-EDC4-900E0864A94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77485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BD48D-4E04-CBEC-329D-53BB3EBC2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9D717-9367-A226-4229-1CA959F2882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69BECD6-9E09-F52C-3746-B4780ADC78D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440583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1DD3-B24A-DA2E-1EB3-B2CE1F73E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BC968-8EBC-58F9-4363-9D8773883AA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F60B714-F98E-D1C5-7B88-F76A9BE444B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235611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C4000-D477-B130-546D-F2D7222BF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7594A-34C9-2F62-6C32-98917571E67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47042F7-4DB7-CA7C-25AD-4939B19858B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75444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latin typeface="Bahnschrift" panose="020B0502040204020203" pitchFamily="34" charset="0"/>
              </a:rPr>
              <a:t>MRA-RFM Analysis</a:t>
            </a:r>
            <a:br>
              <a:rPr lang="en-US" dirty="0">
                <a:latin typeface="Bahnschrift" panose="020B0502040204020203" pitchFamily="34" charset="0"/>
              </a:rPr>
            </a:br>
            <a:r>
              <a:rPr lang="en-US" dirty="0">
                <a:latin typeface="Bahnschrift" panose="020B0502040204020203" pitchFamily="34" charset="0"/>
              </a:rPr>
              <a:t>         </a:t>
            </a:r>
            <a:r>
              <a:rPr lang="en-US" sz="2800" dirty="0">
                <a:latin typeface="Bahnschrift" panose="020B0502040204020203" pitchFamily="34" charset="0"/>
              </a:rPr>
              <a:t>By KUNAL Sarkar</a:t>
            </a:r>
            <a:endParaRPr lang="en-US" dirty="0">
              <a:latin typeface="Bahnschrift" panose="020B0502040204020203" pitchFamily="34" charset="0"/>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665698"/>
            <a:ext cx="6921910" cy="3207344"/>
          </a:xfrm>
        </p:spPr>
        <p:txBody>
          <a:bodyPr>
            <a:normAutofit fontScale="85000" lnSpcReduction="20000"/>
          </a:bodyPr>
          <a:lstStyle/>
          <a:p>
            <a:pPr marL="457200" indent="-457200">
              <a:buFont typeface="+mj-lt"/>
              <a:buAutoNum type="arabicPeriod"/>
            </a:pPr>
            <a:endParaRPr lang="en-US" dirty="0"/>
          </a:p>
          <a:p>
            <a:pPr marL="457200" indent="-457200">
              <a:buFont typeface="+mj-lt"/>
              <a:buAutoNum type="arabicPeriod"/>
            </a:pPr>
            <a:r>
              <a:rPr lang="en-US" dirty="0"/>
              <a:t>The Problem</a:t>
            </a:r>
          </a:p>
          <a:p>
            <a:pPr marL="457200" indent="-457200">
              <a:buFont typeface="+mj-lt"/>
              <a:buAutoNum type="arabicPeriod"/>
            </a:pPr>
            <a:r>
              <a:rPr lang="en-US" dirty="0"/>
              <a:t>Exploring the Data</a:t>
            </a:r>
          </a:p>
          <a:p>
            <a:pPr marL="457200" indent="-457200">
              <a:buFont typeface="+mj-lt"/>
              <a:buAutoNum type="arabicPeriod"/>
            </a:pPr>
            <a:r>
              <a:rPr lang="en-US" dirty="0"/>
              <a:t>Univariate / Bivariate and Multivariate Analysis</a:t>
            </a:r>
          </a:p>
          <a:p>
            <a:pPr marL="457200" indent="-457200">
              <a:buFont typeface="+mj-lt"/>
              <a:buAutoNum type="arabicPeriod"/>
            </a:pPr>
            <a:r>
              <a:rPr lang="en-US" dirty="0"/>
              <a:t>Why RFM analysis and How RFM analysis can help</a:t>
            </a:r>
          </a:p>
          <a:p>
            <a:pPr marL="457200" indent="-457200">
              <a:buFont typeface="+mj-lt"/>
              <a:buAutoNum type="arabicPeriod"/>
            </a:pPr>
            <a:r>
              <a:rPr lang="en-US" dirty="0"/>
              <a:t>Understanding customers</a:t>
            </a:r>
          </a:p>
          <a:p>
            <a:pPr marL="457200" indent="-457200">
              <a:buFont typeface="+mj-lt"/>
              <a:buAutoNum type="arabicPeriod"/>
            </a:pPr>
            <a:r>
              <a:rPr lang="en-US" dirty="0"/>
              <a:t>Business Recommendations </a:t>
            </a:r>
          </a:p>
          <a:p>
            <a:pPr marL="457200" indent="-457200">
              <a:buFont typeface="+mj-lt"/>
              <a:buAutoNum type="arabicPeriod"/>
            </a:pPr>
            <a:r>
              <a:rPr lang="en-US" dirty="0"/>
              <a:t>Strategic recommendations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836446" y="438150"/>
            <a:ext cx="5259554" cy="2495028"/>
          </a:xfrm>
        </p:spPr>
        <p:txBody>
          <a:bodyPr/>
          <a:lstStyle/>
          <a:p>
            <a:r>
              <a:rPr lang="en-US" dirty="0"/>
              <a:t>The Problem</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836445" y="3248311"/>
            <a:ext cx="5593851" cy="2233233"/>
          </a:xfrm>
        </p:spPr>
        <p:txBody>
          <a:bodyPr>
            <a:normAutofit fontScale="92500" lnSpcReduction="10000"/>
          </a:bodyPr>
          <a:lstStyle/>
          <a:p>
            <a:r>
              <a:rPr lang="en-US" dirty="0"/>
              <a:t>An automobile parts manufacturing company with 3 years of  transactional data wants to have a clear picture of the segments that its customers can be put to with the objective of identifying marketing opportunities appropriate for each segment for preservation and expansion.</a:t>
            </a:r>
          </a:p>
        </p:txBody>
      </p:sp>
      <p:pic>
        <p:nvPicPr>
          <p:cNvPr id="1030" name="Picture 6" descr="Advantages and Inefficacies of RFM Segmentation?">
            <a:extLst>
              <a:ext uri="{FF2B5EF4-FFF2-40B4-BE49-F238E27FC236}">
                <a16:creationId xmlns:a16="http://schemas.microsoft.com/office/drawing/2014/main" id="{1B915126-AAD2-8CB4-C09A-A31F5960D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197" y="438150"/>
            <a:ext cx="571500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94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7477-9C9C-4569-99B4-6DA8AE6B3DA8}"/>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6829D42F-BDAB-A106-C47D-580C45E50BBF}"/>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4</a:t>
            </a:fld>
            <a:endParaRPr lang="en-US" dirty="0"/>
          </a:p>
        </p:txBody>
      </p:sp>
      <p:sp>
        <p:nvSpPr>
          <p:cNvPr id="19" name="TextBox 18">
            <a:extLst>
              <a:ext uri="{FF2B5EF4-FFF2-40B4-BE49-F238E27FC236}">
                <a16:creationId xmlns:a16="http://schemas.microsoft.com/office/drawing/2014/main" id="{C39F5A0B-FB83-7712-8F42-C273620CFD6E}"/>
              </a:ext>
            </a:extLst>
          </p:cNvPr>
          <p:cNvSpPr txBox="1"/>
          <p:nvPr/>
        </p:nvSpPr>
        <p:spPr>
          <a:xfrm>
            <a:off x="5673212" y="1457748"/>
            <a:ext cx="5591954" cy="3416320"/>
          </a:xfrm>
          <a:prstGeom prst="rect">
            <a:avLst/>
          </a:prstGeom>
          <a:noFill/>
        </p:spPr>
        <p:txBody>
          <a:bodyPr wrap="square" rtlCol="0">
            <a:spAutoFit/>
          </a:bodyPr>
          <a:lstStyle/>
          <a:p>
            <a:r>
              <a:rPr lang="en-US" dirty="0">
                <a:solidFill>
                  <a:srgbClr val="0EC8B6"/>
                </a:solidFill>
              </a:rPr>
              <a:t>The adjacent screenshot is taken from The Jupiter Notebook, used for basic exploration of the data. </a:t>
            </a:r>
            <a:br>
              <a:rPr lang="en-US" dirty="0">
                <a:solidFill>
                  <a:srgbClr val="0EC8B6"/>
                </a:solidFill>
              </a:rPr>
            </a:br>
            <a:endParaRPr lang="en-US" dirty="0">
              <a:solidFill>
                <a:srgbClr val="0EC8B6"/>
              </a:solidFill>
            </a:endParaRPr>
          </a:p>
          <a:p>
            <a:pPr marL="285750" indent="-285750">
              <a:buFont typeface="Arial" panose="020B0604020202020204" pitchFamily="34" charset="0"/>
              <a:buChar char="•"/>
            </a:pPr>
            <a:r>
              <a:rPr lang="en-US" dirty="0">
                <a:solidFill>
                  <a:srgbClr val="0EC8B6"/>
                </a:solidFill>
              </a:rPr>
              <a:t>The codes used were the find Nulls, duplicates an over view of the Data, no of rows and columns along with total no of data points.</a:t>
            </a:r>
          </a:p>
          <a:p>
            <a:pPr marL="285750" indent="-285750">
              <a:buFont typeface="Arial" panose="020B0604020202020204" pitchFamily="34" charset="0"/>
              <a:buChar char="•"/>
            </a:pPr>
            <a:r>
              <a:rPr lang="en-US" dirty="0">
                <a:solidFill>
                  <a:srgbClr val="0EC8B6"/>
                </a:solidFill>
              </a:rPr>
              <a:t>As a result, we found that there were no duplicates or nulls in the dataset.</a:t>
            </a:r>
          </a:p>
          <a:p>
            <a:pPr marL="285750" indent="-285750">
              <a:buFont typeface="Arial" panose="020B0604020202020204" pitchFamily="34" charset="0"/>
              <a:buChar char="•"/>
            </a:pPr>
            <a:endParaRPr lang="en-US" dirty="0">
              <a:solidFill>
                <a:srgbClr val="0EC8B6"/>
              </a:solidFill>
            </a:endParaRPr>
          </a:p>
          <a:p>
            <a:pPr marL="285750" indent="-285750">
              <a:buFont typeface="Arial" panose="020B0604020202020204" pitchFamily="34" charset="0"/>
              <a:buChar char="•"/>
            </a:pPr>
            <a:r>
              <a:rPr lang="en-US" dirty="0">
                <a:solidFill>
                  <a:srgbClr val="0EC8B6"/>
                </a:solidFill>
              </a:rPr>
              <a:t>The total Data points available were 54940 which was when total no of Orders : 2747 is multiplied by 20 data points  </a:t>
            </a:r>
            <a:endParaRPr lang="en-IN" dirty="0">
              <a:solidFill>
                <a:srgbClr val="0EC8B6"/>
              </a:solidFill>
            </a:endParaRPr>
          </a:p>
        </p:txBody>
      </p:sp>
      <p:pic>
        <p:nvPicPr>
          <p:cNvPr id="26" name="Picture 25">
            <a:extLst>
              <a:ext uri="{FF2B5EF4-FFF2-40B4-BE49-F238E27FC236}">
                <a16:creationId xmlns:a16="http://schemas.microsoft.com/office/drawing/2014/main" id="{464F32FD-9474-E4CF-9408-190DDB2DDE24}"/>
              </a:ext>
            </a:extLst>
          </p:cNvPr>
          <p:cNvPicPr>
            <a:picLocks noChangeAspect="1"/>
          </p:cNvPicPr>
          <p:nvPr/>
        </p:nvPicPr>
        <p:blipFill>
          <a:blip r:embed="rId3"/>
          <a:stretch>
            <a:fillRect/>
          </a:stretch>
        </p:blipFill>
        <p:spPr>
          <a:xfrm>
            <a:off x="0" y="1749100"/>
            <a:ext cx="5591955" cy="2010056"/>
          </a:xfrm>
          <a:prstGeom prst="rect">
            <a:avLst/>
          </a:prstGeom>
        </p:spPr>
      </p:pic>
      <p:pic>
        <p:nvPicPr>
          <p:cNvPr id="30" name="Picture 29">
            <a:extLst>
              <a:ext uri="{FF2B5EF4-FFF2-40B4-BE49-F238E27FC236}">
                <a16:creationId xmlns:a16="http://schemas.microsoft.com/office/drawing/2014/main" id="{52072196-EB97-2128-4BF1-EAE2F7FA7BCD}"/>
              </a:ext>
            </a:extLst>
          </p:cNvPr>
          <p:cNvPicPr>
            <a:picLocks noChangeAspect="1"/>
          </p:cNvPicPr>
          <p:nvPr/>
        </p:nvPicPr>
        <p:blipFill>
          <a:blip r:embed="rId4"/>
          <a:stretch>
            <a:fillRect/>
          </a:stretch>
        </p:blipFill>
        <p:spPr>
          <a:xfrm>
            <a:off x="1" y="3870108"/>
            <a:ext cx="5591955" cy="1609950"/>
          </a:xfrm>
          <a:prstGeom prst="rect">
            <a:avLst/>
          </a:prstGeom>
        </p:spPr>
      </p:pic>
      <p:sp>
        <p:nvSpPr>
          <p:cNvPr id="31" name="TextBox 30">
            <a:extLst>
              <a:ext uri="{FF2B5EF4-FFF2-40B4-BE49-F238E27FC236}">
                <a16:creationId xmlns:a16="http://schemas.microsoft.com/office/drawing/2014/main" id="{099EEFDE-F54D-C07A-2692-AEA6F27F3597}"/>
              </a:ext>
            </a:extLst>
          </p:cNvPr>
          <p:cNvSpPr txBox="1"/>
          <p:nvPr/>
        </p:nvSpPr>
        <p:spPr>
          <a:xfrm>
            <a:off x="6184490" y="609472"/>
            <a:ext cx="4159045" cy="523220"/>
          </a:xfrm>
          <a:prstGeom prst="rect">
            <a:avLst/>
          </a:prstGeom>
          <a:noFill/>
        </p:spPr>
        <p:txBody>
          <a:bodyPr wrap="square" rtlCol="0">
            <a:spAutoFit/>
          </a:bodyPr>
          <a:lstStyle/>
          <a:p>
            <a:r>
              <a:rPr lang="en-US" sz="2800" dirty="0">
                <a:solidFill>
                  <a:srgbClr val="002060"/>
                </a:solidFill>
                <a:latin typeface="Bahnschrift" panose="020B0502040204020203" pitchFamily="34" charset="0"/>
              </a:rPr>
              <a:t>Exploring the Data</a:t>
            </a:r>
            <a:endParaRPr lang="en-IN" sz="2800" dirty="0">
              <a:solidFill>
                <a:srgbClr val="002060"/>
              </a:solidFill>
              <a:latin typeface="Bahnschrift" panose="020B0502040204020203" pitchFamily="34" charset="0"/>
            </a:endParaRPr>
          </a:p>
        </p:txBody>
      </p:sp>
    </p:spTree>
    <p:extLst>
      <p:ext uri="{BB962C8B-B14F-4D97-AF65-F5344CB8AC3E}">
        <p14:creationId xmlns:p14="http://schemas.microsoft.com/office/powerpoint/2010/main" val="2902384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DE13B-9A5E-C6F2-CF1B-47F6F03C9216}"/>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CD193A01-D920-7BEC-A2D4-43B112171520}"/>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5</a:t>
            </a:fld>
            <a:endParaRPr lang="en-US" dirty="0"/>
          </a:p>
        </p:txBody>
      </p:sp>
      <p:sp>
        <p:nvSpPr>
          <p:cNvPr id="19" name="TextBox 18">
            <a:extLst>
              <a:ext uri="{FF2B5EF4-FFF2-40B4-BE49-F238E27FC236}">
                <a16:creationId xmlns:a16="http://schemas.microsoft.com/office/drawing/2014/main" id="{479D5CEB-59FA-3407-3FAA-9B31292616A3}"/>
              </a:ext>
            </a:extLst>
          </p:cNvPr>
          <p:cNvSpPr txBox="1"/>
          <p:nvPr/>
        </p:nvSpPr>
        <p:spPr>
          <a:xfrm>
            <a:off x="6735115" y="952430"/>
            <a:ext cx="5309420" cy="4801314"/>
          </a:xfrm>
          <a:prstGeom prst="rect">
            <a:avLst/>
          </a:prstGeom>
          <a:noFill/>
        </p:spPr>
        <p:txBody>
          <a:bodyPr wrap="square" rtlCol="0">
            <a:spAutoFit/>
          </a:bodyPr>
          <a:lstStyle/>
          <a:p>
            <a:pPr marL="342900" indent="-342900">
              <a:buFont typeface="+mj-lt"/>
              <a:buAutoNum type="arabicPeriod"/>
            </a:pPr>
            <a:r>
              <a:rPr lang="en-US" dirty="0">
                <a:solidFill>
                  <a:srgbClr val="0EC8B6"/>
                </a:solidFill>
                <a:latin typeface="Bahnschrift" panose="020B0502040204020203" pitchFamily="34" charset="0"/>
              </a:rPr>
              <a:t>The adjacent screenshot is taken from MS Excel.</a:t>
            </a:r>
          </a:p>
          <a:p>
            <a:pPr marL="342900" indent="-342900">
              <a:buFont typeface="+mj-lt"/>
              <a:buAutoNum type="arabicPeriod"/>
            </a:pPr>
            <a:endParaRPr lang="en-US" dirty="0">
              <a:solidFill>
                <a:srgbClr val="0EC8B6"/>
              </a:solidFill>
              <a:latin typeface="Bahnschrift" panose="020B0502040204020203" pitchFamily="34" charset="0"/>
            </a:endParaRPr>
          </a:p>
          <a:p>
            <a:pPr marL="342900" indent="-342900">
              <a:buFont typeface="+mj-lt"/>
              <a:buAutoNum type="arabicPeriod"/>
            </a:pPr>
            <a:r>
              <a:rPr lang="en-US" dirty="0">
                <a:solidFill>
                  <a:srgbClr val="0EC8B6"/>
                </a:solidFill>
                <a:latin typeface="Bahnschrift" panose="020B0502040204020203" pitchFamily="34" charset="0"/>
              </a:rPr>
              <a:t>Where a Pivot table was created to have a basic idea about the data available.</a:t>
            </a:r>
            <a:br>
              <a:rPr lang="en-US" dirty="0">
                <a:solidFill>
                  <a:srgbClr val="0EC8B6"/>
                </a:solidFill>
                <a:latin typeface="Bahnschrift" panose="020B0502040204020203" pitchFamily="34" charset="0"/>
              </a:rPr>
            </a:br>
            <a:br>
              <a:rPr lang="en-US" dirty="0">
                <a:solidFill>
                  <a:srgbClr val="0EC8B6"/>
                </a:solidFill>
                <a:latin typeface="Bahnschrift" panose="020B0502040204020203" pitchFamily="34" charset="0"/>
              </a:rPr>
            </a:br>
            <a:r>
              <a:rPr lang="en-US" dirty="0">
                <a:solidFill>
                  <a:srgbClr val="0EC8B6"/>
                </a:solidFill>
                <a:latin typeface="Bahnschrift" panose="020B0502040204020203" pitchFamily="34" charset="0"/>
              </a:rPr>
              <a:t>No of countries we have customers from = 19</a:t>
            </a:r>
          </a:p>
          <a:p>
            <a:pPr marL="342900" indent="-342900">
              <a:buFont typeface="+mj-lt"/>
              <a:buAutoNum type="arabicPeriod"/>
            </a:pPr>
            <a:endParaRPr lang="en-US" dirty="0">
              <a:solidFill>
                <a:srgbClr val="0EC8B6"/>
              </a:solidFill>
              <a:latin typeface="Bahnschrift" panose="020B0502040204020203" pitchFamily="34" charset="0"/>
            </a:endParaRPr>
          </a:p>
          <a:p>
            <a:pPr marL="342900" indent="-342900">
              <a:buFont typeface="+mj-lt"/>
              <a:buAutoNum type="arabicPeriod"/>
            </a:pPr>
            <a:r>
              <a:rPr lang="en-US" dirty="0">
                <a:solidFill>
                  <a:srgbClr val="0EC8B6"/>
                </a:solidFill>
                <a:latin typeface="Bahnschrift" panose="020B0502040204020203" pitchFamily="34" charset="0"/>
              </a:rPr>
              <a:t>Highest number of orders placed was by accounts in USA with a total of 928 in 2.75 years, lowest was made by accounts in Ireland only 16.</a:t>
            </a:r>
          </a:p>
          <a:p>
            <a:pPr marL="342900" indent="-342900">
              <a:buFont typeface="+mj-lt"/>
              <a:buAutoNum type="arabicPeriod"/>
            </a:pPr>
            <a:endParaRPr lang="en-US" dirty="0">
              <a:solidFill>
                <a:srgbClr val="0EC8B6"/>
              </a:solidFill>
              <a:latin typeface="Bahnschrift" panose="020B0502040204020203" pitchFamily="34" charset="0"/>
            </a:endParaRPr>
          </a:p>
          <a:p>
            <a:r>
              <a:rPr lang="en-US" dirty="0">
                <a:solidFill>
                  <a:schemeClr val="accent6">
                    <a:lumMod val="60000"/>
                    <a:lumOff val="40000"/>
                  </a:schemeClr>
                </a:solidFill>
                <a:latin typeface="Bahnschrift" panose="020B0502040204020203" pitchFamily="34" charset="0"/>
              </a:rPr>
              <a:t>Business implication : The enterprise can judge based on this data where exactly the products have a higher acceptance and allocate the marketing budget in response to performance</a:t>
            </a:r>
          </a:p>
        </p:txBody>
      </p:sp>
      <p:pic>
        <p:nvPicPr>
          <p:cNvPr id="5" name="Picture 4">
            <a:extLst>
              <a:ext uri="{FF2B5EF4-FFF2-40B4-BE49-F238E27FC236}">
                <a16:creationId xmlns:a16="http://schemas.microsoft.com/office/drawing/2014/main" id="{E64A1517-49AA-EEB0-D28F-EF10FA4398C6}"/>
              </a:ext>
            </a:extLst>
          </p:cNvPr>
          <p:cNvPicPr>
            <a:picLocks noChangeAspect="1"/>
          </p:cNvPicPr>
          <p:nvPr/>
        </p:nvPicPr>
        <p:blipFill>
          <a:blip r:embed="rId3"/>
          <a:stretch>
            <a:fillRect/>
          </a:stretch>
        </p:blipFill>
        <p:spPr>
          <a:xfrm>
            <a:off x="0" y="1023602"/>
            <a:ext cx="6735115" cy="4810796"/>
          </a:xfrm>
          <a:prstGeom prst="rect">
            <a:avLst/>
          </a:prstGeom>
        </p:spPr>
      </p:pic>
      <p:sp>
        <p:nvSpPr>
          <p:cNvPr id="6" name="TextBox 5">
            <a:extLst>
              <a:ext uri="{FF2B5EF4-FFF2-40B4-BE49-F238E27FC236}">
                <a16:creationId xmlns:a16="http://schemas.microsoft.com/office/drawing/2014/main" id="{3838FB98-DDC0-F3D2-BAD7-907C3F674AAA}"/>
              </a:ext>
            </a:extLst>
          </p:cNvPr>
          <p:cNvSpPr txBox="1"/>
          <p:nvPr/>
        </p:nvSpPr>
        <p:spPr>
          <a:xfrm>
            <a:off x="5073454" y="250195"/>
            <a:ext cx="5102943" cy="461665"/>
          </a:xfrm>
          <a:prstGeom prst="rect">
            <a:avLst/>
          </a:prstGeom>
          <a:noFill/>
        </p:spPr>
        <p:txBody>
          <a:bodyPr wrap="square" rtlCol="0">
            <a:spAutoFit/>
          </a:bodyPr>
          <a:lstStyle/>
          <a:p>
            <a:r>
              <a:rPr lang="en-US" sz="2400" dirty="0">
                <a:solidFill>
                  <a:schemeClr val="accent6">
                    <a:lumMod val="50000"/>
                  </a:schemeClr>
                </a:solidFill>
                <a:latin typeface="Bahnschrift" panose="020B0502040204020203" pitchFamily="34" charset="0"/>
              </a:rPr>
              <a:t>Pivoting on Global sales</a:t>
            </a:r>
            <a:endParaRPr lang="en-IN" sz="2400" dirty="0">
              <a:solidFill>
                <a:schemeClr val="accent6">
                  <a:lumMod val="50000"/>
                </a:schemeClr>
              </a:solidFill>
              <a:latin typeface="Bahnschrift" panose="020B0502040204020203" pitchFamily="34" charset="0"/>
            </a:endParaRPr>
          </a:p>
        </p:txBody>
      </p:sp>
    </p:spTree>
    <p:extLst>
      <p:ext uri="{BB962C8B-B14F-4D97-AF65-F5344CB8AC3E}">
        <p14:creationId xmlns:p14="http://schemas.microsoft.com/office/powerpoint/2010/main" val="419255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BF5F3-FE83-F8AF-3CA3-3CC3097E0229}"/>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9F4620B6-390C-0139-4DED-161D8807E3F2}"/>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6</a:t>
            </a:fld>
            <a:endParaRPr lang="en-US" dirty="0"/>
          </a:p>
        </p:txBody>
      </p:sp>
      <p:sp>
        <p:nvSpPr>
          <p:cNvPr id="19" name="TextBox 18">
            <a:extLst>
              <a:ext uri="{FF2B5EF4-FFF2-40B4-BE49-F238E27FC236}">
                <a16:creationId xmlns:a16="http://schemas.microsoft.com/office/drawing/2014/main" id="{52E43378-86E3-6BB2-88E3-BE832DC6F890}"/>
              </a:ext>
            </a:extLst>
          </p:cNvPr>
          <p:cNvSpPr txBox="1"/>
          <p:nvPr/>
        </p:nvSpPr>
        <p:spPr>
          <a:xfrm>
            <a:off x="6735115" y="952430"/>
            <a:ext cx="5309420" cy="5632311"/>
          </a:xfrm>
          <a:prstGeom prst="rect">
            <a:avLst/>
          </a:prstGeom>
          <a:noFill/>
        </p:spPr>
        <p:txBody>
          <a:bodyPr wrap="square" rtlCol="0">
            <a:spAutoFit/>
          </a:bodyPr>
          <a:lstStyle/>
          <a:p>
            <a:pPr marL="342900" indent="-342900">
              <a:buFont typeface="+mj-lt"/>
              <a:buAutoNum type="arabicPeriod"/>
            </a:pPr>
            <a:r>
              <a:rPr lang="en-US" dirty="0">
                <a:solidFill>
                  <a:srgbClr val="0EC8B6"/>
                </a:solidFill>
                <a:latin typeface="Bahnschrift" panose="020B0502040204020203" pitchFamily="34" charset="0"/>
              </a:rPr>
              <a:t>The adjacent screenshot is taken from MS Excel.</a:t>
            </a:r>
          </a:p>
          <a:p>
            <a:pPr marL="342900" indent="-342900">
              <a:buFont typeface="+mj-lt"/>
              <a:buAutoNum type="arabicPeriod"/>
            </a:pPr>
            <a:endParaRPr lang="en-US" dirty="0">
              <a:solidFill>
                <a:srgbClr val="0EC8B6"/>
              </a:solidFill>
              <a:latin typeface="Bahnschrift" panose="020B0502040204020203" pitchFamily="34" charset="0"/>
            </a:endParaRPr>
          </a:p>
          <a:p>
            <a:pPr marL="342900" indent="-342900">
              <a:buFont typeface="+mj-lt"/>
              <a:buAutoNum type="arabicPeriod"/>
            </a:pPr>
            <a:r>
              <a:rPr lang="en-US" dirty="0">
                <a:solidFill>
                  <a:srgbClr val="0EC8B6"/>
                </a:solidFill>
                <a:latin typeface="Bahnschrift" panose="020B0502040204020203" pitchFamily="34" charset="0"/>
              </a:rPr>
              <a:t>Where a Pivot table was created to have a basic idea about the data available.</a:t>
            </a:r>
            <a:br>
              <a:rPr lang="en-US" dirty="0">
                <a:solidFill>
                  <a:srgbClr val="0EC8B6"/>
                </a:solidFill>
                <a:latin typeface="Bahnschrift" panose="020B0502040204020203" pitchFamily="34" charset="0"/>
              </a:rPr>
            </a:br>
            <a:endParaRPr lang="en-US" dirty="0">
              <a:solidFill>
                <a:srgbClr val="0EC8B6"/>
              </a:solidFill>
              <a:latin typeface="Bahnschrift" panose="020B0502040204020203" pitchFamily="34" charset="0"/>
            </a:endParaRPr>
          </a:p>
          <a:p>
            <a:pPr marL="342900" indent="-342900">
              <a:buFont typeface="+mj-lt"/>
              <a:buAutoNum type="arabicPeriod"/>
            </a:pPr>
            <a:r>
              <a:rPr lang="en-US" dirty="0">
                <a:solidFill>
                  <a:srgbClr val="0EC8B6"/>
                </a:solidFill>
                <a:latin typeface="Bahnschrift" panose="020B0502040204020203" pitchFamily="34" charset="0"/>
              </a:rPr>
              <a:t>It can be observed that medium sized orders are the mostly prevalent indicative of customers preferred average volume.</a:t>
            </a:r>
          </a:p>
          <a:p>
            <a:pPr marL="342900" indent="-342900">
              <a:buFont typeface="+mj-lt"/>
              <a:buAutoNum type="arabicPeriod"/>
            </a:pPr>
            <a:r>
              <a:rPr lang="en-US" dirty="0">
                <a:solidFill>
                  <a:srgbClr val="0EC8B6"/>
                </a:solidFill>
                <a:latin typeface="Bahnschrift" panose="020B0502040204020203" pitchFamily="34" charset="0"/>
              </a:rPr>
              <a:t>It can also be observed that  the no of cancelled orders and orders put on hold is quite huge when put together if added the disputed becomes note worthy.</a:t>
            </a:r>
          </a:p>
          <a:p>
            <a:endParaRPr lang="en-US" dirty="0">
              <a:solidFill>
                <a:schemeClr val="accent6">
                  <a:lumMod val="60000"/>
                  <a:lumOff val="40000"/>
                </a:schemeClr>
              </a:solidFill>
              <a:latin typeface="Bahnschrift" panose="020B0502040204020203" pitchFamily="34" charset="0"/>
            </a:endParaRPr>
          </a:p>
          <a:p>
            <a:r>
              <a:rPr lang="en-US" dirty="0">
                <a:solidFill>
                  <a:schemeClr val="accent6">
                    <a:lumMod val="60000"/>
                    <a:lumOff val="40000"/>
                  </a:schemeClr>
                </a:solidFill>
                <a:latin typeface="Bahnschrift" panose="020B0502040204020203" pitchFamily="34" charset="0"/>
              </a:rPr>
              <a:t>Business implication : The organization must take note of the incidents behind the order related discrepancies in order to ensure the impact of external factors on overall revenue is minimized.</a:t>
            </a:r>
            <a:br>
              <a:rPr lang="en-US" dirty="0">
                <a:solidFill>
                  <a:schemeClr val="accent6">
                    <a:lumMod val="60000"/>
                    <a:lumOff val="40000"/>
                  </a:schemeClr>
                </a:solidFill>
                <a:latin typeface="Bahnschrift" panose="020B0502040204020203" pitchFamily="34" charset="0"/>
              </a:rPr>
            </a:br>
            <a:r>
              <a:rPr lang="en-US" dirty="0">
                <a:solidFill>
                  <a:schemeClr val="accent6">
                    <a:lumMod val="60000"/>
                    <a:lumOff val="40000"/>
                  </a:schemeClr>
                </a:solidFill>
                <a:latin typeface="Bahnschrift" panose="020B0502040204020203" pitchFamily="34" charset="0"/>
              </a:rPr>
              <a:t>As these factors impact the goodwill the most important intangible asset.</a:t>
            </a:r>
          </a:p>
        </p:txBody>
      </p:sp>
      <p:sp>
        <p:nvSpPr>
          <p:cNvPr id="6" name="TextBox 5">
            <a:extLst>
              <a:ext uri="{FF2B5EF4-FFF2-40B4-BE49-F238E27FC236}">
                <a16:creationId xmlns:a16="http://schemas.microsoft.com/office/drawing/2014/main" id="{1501485D-D3E2-B8A2-29E9-066C93E7CE8C}"/>
              </a:ext>
            </a:extLst>
          </p:cNvPr>
          <p:cNvSpPr txBox="1"/>
          <p:nvPr/>
        </p:nvSpPr>
        <p:spPr>
          <a:xfrm>
            <a:off x="5073454" y="250195"/>
            <a:ext cx="5102943" cy="461665"/>
          </a:xfrm>
          <a:prstGeom prst="rect">
            <a:avLst/>
          </a:prstGeom>
          <a:noFill/>
        </p:spPr>
        <p:txBody>
          <a:bodyPr wrap="square" rtlCol="0">
            <a:spAutoFit/>
          </a:bodyPr>
          <a:lstStyle/>
          <a:p>
            <a:r>
              <a:rPr lang="en-US" sz="2400" dirty="0">
                <a:solidFill>
                  <a:schemeClr val="accent6">
                    <a:lumMod val="50000"/>
                  </a:schemeClr>
                </a:solidFill>
                <a:latin typeface="Bahnschrift" panose="020B0502040204020203" pitchFamily="34" charset="0"/>
              </a:rPr>
              <a:t>Pivot Chart on Order categories</a:t>
            </a:r>
            <a:endParaRPr lang="en-IN" sz="2400" dirty="0">
              <a:solidFill>
                <a:schemeClr val="accent6">
                  <a:lumMod val="50000"/>
                </a:schemeClr>
              </a:solidFill>
              <a:latin typeface="Bahnschrift" panose="020B0502040204020203" pitchFamily="34" charset="0"/>
            </a:endParaRPr>
          </a:p>
        </p:txBody>
      </p:sp>
      <p:pic>
        <p:nvPicPr>
          <p:cNvPr id="9" name="Picture 8">
            <a:extLst>
              <a:ext uri="{FF2B5EF4-FFF2-40B4-BE49-F238E27FC236}">
                <a16:creationId xmlns:a16="http://schemas.microsoft.com/office/drawing/2014/main" id="{EAF0B996-9536-3DC8-5CDB-A051EDE66B8D}"/>
              </a:ext>
            </a:extLst>
          </p:cNvPr>
          <p:cNvPicPr>
            <a:picLocks noChangeAspect="1"/>
          </p:cNvPicPr>
          <p:nvPr/>
        </p:nvPicPr>
        <p:blipFill>
          <a:blip r:embed="rId3"/>
          <a:stretch>
            <a:fillRect/>
          </a:stretch>
        </p:blipFill>
        <p:spPr>
          <a:xfrm>
            <a:off x="234063" y="825690"/>
            <a:ext cx="5811061" cy="5344271"/>
          </a:xfrm>
          <a:prstGeom prst="rect">
            <a:avLst/>
          </a:prstGeom>
        </p:spPr>
      </p:pic>
    </p:spTree>
    <p:extLst>
      <p:ext uri="{BB962C8B-B14F-4D97-AF65-F5344CB8AC3E}">
        <p14:creationId xmlns:p14="http://schemas.microsoft.com/office/powerpoint/2010/main" val="997961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D9002-1A31-3CDC-3B6C-CC3550BB4E4E}"/>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89AD0C8D-4E7C-D1C5-1E76-635AE4C5FAC5}"/>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7</a:t>
            </a:fld>
            <a:endParaRPr lang="en-US" dirty="0"/>
          </a:p>
        </p:txBody>
      </p:sp>
      <p:pic>
        <p:nvPicPr>
          <p:cNvPr id="14" name="Picture 13">
            <a:extLst>
              <a:ext uri="{FF2B5EF4-FFF2-40B4-BE49-F238E27FC236}">
                <a16:creationId xmlns:a16="http://schemas.microsoft.com/office/drawing/2014/main" id="{0AC46048-4EF2-C88D-FE05-8362AFF0BDA4}"/>
              </a:ext>
            </a:extLst>
          </p:cNvPr>
          <p:cNvPicPr>
            <a:picLocks noChangeAspect="1"/>
          </p:cNvPicPr>
          <p:nvPr/>
        </p:nvPicPr>
        <p:blipFill>
          <a:blip r:embed="rId3"/>
          <a:stretch>
            <a:fillRect/>
          </a:stretch>
        </p:blipFill>
        <p:spPr>
          <a:xfrm>
            <a:off x="1759974" y="0"/>
            <a:ext cx="10432026" cy="6858000"/>
          </a:xfrm>
          <a:prstGeom prst="rect">
            <a:avLst/>
          </a:prstGeom>
        </p:spPr>
      </p:pic>
    </p:spTree>
    <p:extLst>
      <p:ext uri="{BB962C8B-B14F-4D97-AF65-F5344CB8AC3E}">
        <p14:creationId xmlns:p14="http://schemas.microsoft.com/office/powerpoint/2010/main" val="225232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A6B93-E581-11D0-B528-8422DF1D3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9A2BC-ECD5-E72A-8108-458E77FC2B37}"/>
              </a:ext>
            </a:extLst>
          </p:cNvPr>
          <p:cNvSpPr>
            <a:spLocks noGrp="1"/>
          </p:cNvSpPr>
          <p:nvPr>
            <p:ph type="title"/>
          </p:nvPr>
        </p:nvSpPr>
        <p:spPr>
          <a:xfrm>
            <a:off x="3460565" y="149499"/>
            <a:ext cx="7965461" cy="994164"/>
          </a:xfrm>
        </p:spPr>
        <p:txBody>
          <a:bodyPr/>
          <a:lstStyle/>
          <a:p>
            <a:r>
              <a:rPr lang="en-US" sz="3600" b="1" dirty="0">
                <a:solidFill>
                  <a:srgbClr val="002060"/>
                </a:solidFill>
                <a:latin typeface="Bahnschrift" panose="020B0502040204020203" pitchFamily="34" charset="0"/>
              </a:rPr>
              <a:t>Global Sales Leaderboard   </a:t>
            </a:r>
            <a:r>
              <a:rPr lang="en-US" sz="2000" b="1" dirty="0">
                <a:solidFill>
                  <a:srgbClr val="002060"/>
                </a:solidFill>
                <a:latin typeface="Bahnschrift" panose="020B0502040204020203" pitchFamily="34" charset="0"/>
              </a:rPr>
              <a:t>n=5</a:t>
            </a:r>
            <a:endParaRPr lang="en-US" dirty="0">
              <a:solidFill>
                <a:srgbClr val="002060"/>
              </a:solidFill>
              <a:latin typeface="Bahnschrift" panose="020B0502040204020203" pitchFamily="34" charset="0"/>
            </a:endParaRPr>
          </a:p>
        </p:txBody>
      </p:sp>
      <p:sp>
        <p:nvSpPr>
          <p:cNvPr id="3" name="Content Placeholder 2">
            <a:extLst>
              <a:ext uri="{FF2B5EF4-FFF2-40B4-BE49-F238E27FC236}">
                <a16:creationId xmlns:a16="http://schemas.microsoft.com/office/drawing/2014/main" id="{C881EB6A-8A72-0EFC-9DD2-99628011B03C}"/>
              </a:ext>
            </a:extLst>
          </p:cNvPr>
          <p:cNvSpPr>
            <a:spLocks noGrp="1"/>
          </p:cNvSpPr>
          <p:nvPr>
            <p:ph sz="half" idx="2"/>
          </p:nvPr>
        </p:nvSpPr>
        <p:spPr>
          <a:xfrm>
            <a:off x="3460564" y="1319732"/>
            <a:ext cx="8426635" cy="5588534"/>
          </a:xfrm>
        </p:spPr>
        <p:txBody>
          <a:bodyPr>
            <a:normAutofit/>
          </a:bodyPr>
          <a:lstStyle/>
          <a:p>
            <a:pPr marL="457200" indent="-457200">
              <a:buFont typeface="+mj-lt"/>
              <a:buAutoNum type="arabicPeriod"/>
            </a:pPr>
            <a:r>
              <a:rPr lang="en-US" sz="2000" dirty="0">
                <a:solidFill>
                  <a:srgbClr val="0EC8B6"/>
                </a:solidFill>
                <a:latin typeface="Bahnschrift" panose="020B0502040204020203" pitchFamily="34" charset="0"/>
              </a:rPr>
              <a:t>The </a:t>
            </a:r>
            <a:r>
              <a:rPr lang="en-US" sz="2000" b="1" dirty="0">
                <a:solidFill>
                  <a:srgbClr val="0EC8B6"/>
                </a:solidFill>
                <a:latin typeface="Bahnschrift" panose="020B0502040204020203" pitchFamily="34" charset="0"/>
              </a:rPr>
              <a:t>Global Sales Leaderboard:</a:t>
            </a:r>
            <a:r>
              <a:rPr lang="en-US" sz="2000" dirty="0">
                <a:solidFill>
                  <a:srgbClr val="0EC8B6"/>
                </a:solidFill>
                <a:latin typeface="Bahnschrift" panose="020B0502040204020203" pitchFamily="34" charset="0"/>
              </a:rPr>
              <a:t> This chart highlights total sales and customer counts by country, revealing that United States leads with 17 customers, followed by Spain, UK and France.</a:t>
            </a:r>
          </a:p>
          <a:p>
            <a:pPr marL="457200" indent="-457200">
              <a:buFont typeface="+mj-lt"/>
              <a:buAutoNum type="arabicPeriod"/>
            </a:pPr>
            <a:r>
              <a:rPr lang="en-US" sz="2000" b="1" dirty="0">
                <a:solidFill>
                  <a:srgbClr val="0EC8B6"/>
                </a:solidFill>
                <a:latin typeface="Bahnschrift" panose="020B0502040204020203" pitchFamily="34" charset="0"/>
              </a:rPr>
              <a:t>High-Value Outlier – Spain:</a:t>
            </a:r>
            <a:r>
              <a:rPr lang="en-US" sz="2000" dirty="0">
                <a:solidFill>
                  <a:srgbClr val="0EC8B6"/>
                </a:solidFill>
                <a:latin typeface="Bahnschrift" panose="020B0502040204020203" pitchFamily="34" charset="0"/>
              </a:rPr>
              <a:t> Although Spain has only 5 customers, they account for 1,215,687 in sales—outpacing the France’s 12 customers, whose combined sales barely reach 1110917.</a:t>
            </a:r>
          </a:p>
          <a:p>
            <a:pPr marL="457200" indent="-457200">
              <a:buFont typeface="+mj-lt"/>
              <a:buAutoNum type="arabicPeriod"/>
            </a:pPr>
            <a:r>
              <a:rPr lang="en-US" sz="2000" b="1" dirty="0">
                <a:solidFill>
                  <a:srgbClr val="0EC8B6"/>
                </a:solidFill>
                <a:latin typeface="Bahnschrift" panose="020B0502040204020203" pitchFamily="34" charset="0"/>
              </a:rPr>
              <a:t>Average Customer Contribution (</a:t>
            </a:r>
            <a:r>
              <a:rPr lang="en-US" sz="2000" b="1" dirty="0" err="1">
                <a:solidFill>
                  <a:srgbClr val="0EC8B6"/>
                </a:solidFill>
                <a:latin typeface="Bahnschrift" panose="020B0502040204020203" pitchFamily="34" charset="0"/>
              </a:rPr>
              <a:t>AvCC</a:t>
            </a:r>
            <a:r>
              <a:rPr lang="en-US" sz="2000" b="1" dirty="0">
                <a:solidFill>
                  <a:srgbClr val="0EC8B6"/>
                </a:solidFill>
                <a:latin typeface="Bahnschrift" panose="020B0502040204020203" pitchFamily="34" charset="0"/>
              </a:rPr>
              <a:t>):</a:t>
            </a:r>
            <a:r>
              <a:rPr lang="en-US" sz="2000" dirty="0">
                <a:solidFill>
                  <a:srgbClr val="0EC8B6"/>
                </a:solidFill>
                <a:latin typeface="Bahnschrift" panose="020B0502040204020203" pitchFamily="34" charset="0"/>
              </a:rPr>
              <a:t> Spain tops the </a:t>
            </a:r>
            <a:r>
              <a:rPr lang="en-US" sz="2000" dirty="0" err="1">
                <a:solidFill>
                  <a:srgbClr val="0EC8B6"/>
                </a:solidFill>
                <a:latin typeface="Bahnschrift" panose="020B0502040204020203" pitchFamily="34" charset="0"/>
              </a:rPr>
              <a:t>AvCC</a:t>
            </a:r>
            <a:r>
              <a:rPr lang="en-US" sz="2000" dirty="0">
                <a:solidFill>
                  <a:srgbClr val="0EC8B6"/>
                </a:solidFill>
                <a:latin typeface="Bahnschrift" panose="020B0502040204020203" pitchFamily="34" charset="0"/>
              </a:rPr>
              <a:t> metric (total sales ÷ customer count), indicating that Spanish accounts deliver the highest per-customer value which is 243,137.</a:t>
            </a:r>
          </a:p>
          <a:p>
            <a:pPr marL="457200" indent="-457200">
              <a:buFont typeface="+mj-lt"/>
              <a:buAutoNum type="arabicPeriod"/>
            </a:pPr>
            <a:endParaRPr lang="en-US" sz="2000" dirty="0">
              <a:solidFill>
                <a:srgbClr val="0EC8B6"/>
              </a:solidFill>
              <a:latin typeface="Bahnschrift" panose="020B0502040204020203" pitchFamily="34" charset="0"/>
            </a:endParaRPr>
          </a:p>
          <a:p>
            <a:pPr marL="0" indent="0">
              <a:buNone/>
            </a:pPr>
            <a:r>
              <a:rPr lang="en-US" sz="2000" b="1" dirty="0">
                <a:solidFill>
                  <a:schemeClr val="accent6">
                    <a:lumMod val="60000"/>
                    <a:lumOff val="40000"/>
                  </a:schemeClr>
                </a:solidFill>
                <a:latin typeface="Bahnschrift" panose="020B0502040204020203" pitchFamily="34" charset="0"/>
              </a:rPr>
              <a:t>Business Implication:</a:t>
            </a:r>
            <a:r>
              <a:rPr lang="en-US" sz="2000" dirty="0">
                <a:solidFill>
                  <a:schemeClr val="accent6">
                    <a:lumMod val="60000"/>
                    <a:lumOff val="40000"/>
                  </a:schemeClr>
                </a:solidFill>
                <a:latin typeface="Bahnschrift" panose="020B0502040204020203" pitchFamily="34" charset="0"/>
              </a:rPr>
              <a:t> These insights suggest prioritizing marketing and support investments in Spain to capitalize on its exceptional per-account performance, while exploring strategies to boost customer value in other key markets.</a:t>
            </a:r>
          </a:p>
        </p:txBody>
      </p:sp>
      <p:sp>
        <p:nvSpPr>
          <p:cNvPr id="23" name="Slide Number Placeholder 22">
            <a:extLst>
              <a:ext uri="{FF2B5EF4-FFF2-40B4-BE49-F238E27FC236}">
                <a16:creationId xmlns:a16="http://schemas.microsoft.com/office/drawing/2014/main" id="{B623456F-6712-D17E-F842-AC8DD841677C}"/>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7302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12AA4-07DC-23C5-B3EC-9E7D9E38C433}"/>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16146341-5A47-FEE2-3B8D-72D682050FA4}"/>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9</a:t>
            </a:fld>
            <a:endParaRPr lang="en-US" dirty="0"/>
          </a:p>
        </p:txBody>
      </p:sp>
      <p:pic>
        <p:nvPicPr>
          <p:cNvPr id="7" name="Picture 6">
            <a:extLst>
              <a:ext uri="{FF2B5EF4-FFF2-40B4-BE49-F238E27FC236}">
                <a16:creationId xmlns:a16="http://schemas.microsoft.com/office/drawing/2014/main" id="{CDEF078D-E08B-D974-9437-A79AB4D07E93}"/>
              </a:ext>
            </a:extLst>
          </p:cNvPr>
          <p:cNvPicPr>
            <a:picLocks noChangeAspect="1"/>
          </p:cNvPicPr>
          <p:nvPr/>
        </p:nvPicPr>
        <p:blipFill>
          <a:blip r:embed="rId3"/>
          <a:stretch>
            <a:fillRect/>
          </a:stretch>
        </p:blipFill>
        <p:spPr>
          <a:xfrm>
            <a:off x="0" y="0"/>
            <a:ext cx="12192000" cy="5856064"/>
          </a:xfrm>
          <a:prstGeom prst="rect">
            <a:avLst/>
          </a:prstGeom>
        </p:spPr>
      </p:pic>
    </p:spTree>
    <p:extLst>
      <p:ext uri="{BB962C8B-B14F-4D97-AF65-F5344CB8AC3E}">
        <p14:creationId xmlns:p14="http://schemas.microsoft.com/office/powerpoint/2010/main" val="1886123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845E-211A-378F-D518-6D40F465E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B3D17-2286-E95C-74B1-5BEC6A5FD4FA}"/>
              </a:ext>
            </a:extLst>
          </p:cNvPr>
          <p:cNvSpPr>
            <a:spLocks noGrp="1"/>
          </p:cNvSpPr>
          <p:nvPr>
            <p:ph type="title"/>
          </p:nvPr>
        </p:nvSpPr>
        <p:spPr>
          <a:xfrm>
            <a:off x="3460565" y="149499"/>
            <a:ext cx="7965461" cy="994164"/>
          </a:xfrm>
        </p:spPr>
        <p:txBody>
          <a:bodyPr/>
          <a:lstStyle/>
          <a:p>
            <a:r>
              <a:rPr lang="en-US" sz="3600" b="1" dirty="0">
                <a:solidFill>
                  <a:srgbClr val="002060"/>
                </a:solidFill>
                <a:latin typeface="Bahnschrift" panose="020B0502040204020203" pitchFamily="34" charset="0"/>
              </a:rPr>
              <a:t>Global Sales Leaderboard</a:t>
            </a:r>
            <a:endParaRPr lang="en-US" dirty="0">
              <a:solidFill>
                <a:srgbClr val="002060"/>
              </a:solidFill>
              <a:latin typeface="Bahnschrift" panose="020B0502040204020203" pitchFamily="34" charset="0"/>
            </a:endParaRPr>
          </a:p>
        </p:txBody>
      </p:sp>
      <p:sp>
        <p:nvSpPr>
          <p:cNvPr id="3" name="Content Placeholder 2">
            <a:extLst>
              <a:ext uri="{FF2B5EF4-FFF2-40B4-BE49-F238E27FC236}">
                <a16:creationId xmlns:a16="http://schemas.microsoft.com/office/drawing/2014/main" id="{27B58048-A8B8-9B06-E1AE-F691CDA135C4}"/>
              </a:ext>
            </a:extLst>
          </p:cNvPr>
          <p:cNvSpPr>
            <a:spLocks noGrp="1"/>
          </p:cNvSpPr>
          <p:nvPr>
            <p:ph sz="half" idx="2"/>
          </p:nvPr>
        </p:nvSpPr>
        <p:spPr>
          <a:xfrm>
            <a:off x="2732977" y="1165537"/>
            <a:ext cx="8947746" cy="5588534"/>
          </a:xfrm>
        </p:spPr>
        <p:txBody>
          <a:bodyPr>
            <a:normAutofit/>
          </a:bodyPr>
          <a:lstStyle/>
          <a:p>
            <a:pPr>
              <a:buFont typeface="+mj-lt"/>
              <a:buAutoNum type="arabicPeriod"/>
            </a:pPr>
            <a:r>
              <a:rPr lang="en-US" sz="2000" b="1" dirty="0">
                <a:solidFill>
                  <a:srgbClr val="0EC8B6"/>
                </a:solidFill>
              </a:rPr>
              <a:t>U.S. Market Leadership:</a:t>
            </a:r>
            <a:r>
              <a:rPr lang="en-US" sz="2000" dirty="0">
                <a:solidFill>
                  <a:srgbClr val="0EC8B6"/>
                </a:solidFill>
              </a:rPr>
              <a:t> The United States ranks first across all seven product lines, underscoring its dominant role in global demand.</a:t>
            </a:r>
          </a:p>
          <a:p>
            <a:pPr>
              <a:buFont typeface="+mj-lt"/>
              <a:buAutoNum type="arabicPeriod"/>
            </a:pPr>
            <a:r>
              <a:rPr lang="en-US" sz="2000" b="1" dirty="0">
                <a:solidFill>
                  <a:srgbClr val="0EC8B6"/>
                </a:solidFill>
              </a:rPr>
              <a:t>Spain’s Strong Secondary Position:</a:t>
            </a:r>
            <a:r>
              <a:rPr lang="en-US" sz="2000" dirty="0">
                <a:solidFill>
                  <a:srgbClr val="0EC8B6"/>
                </a:solidFill>
              </a:rPr>
              <a:t> Spain holds the #2 spot in five out of seven categories, making it the most reliable runner-up market.</a:t>
            </a:r>
          </a:p>
          <a:p>
            <a:pPr>
              <a:buFont typeface="+mj-lt"/>
              <a:buAutoNum type="arabicPeriod"/>
            </a:pPr>
            <a:r>
              <a:rPr lang="en-US" sz="2000" b="1" dirty="0">
                <a:solidFill>
                  <a:srgbClr val="0EC8B6"/>
                </a:solidFill>
              </a:rPr>
              <a:t>France’s Consistent Mid-Tier Strength:</a:t>
            </a:r>
            <a:r>
              <a:rPr lang="en-US" sz="2000" dirty="0">
                <a:solidFill>
                  <a:srgbClr val="0EC8B6"/>
                </a:solidFill>
              </a:rPr>
              <a:t> France places third in four product lines, second in two, and fourth in one, reflecting solid performance across the portfolio.</a:t>
            </a:r>
          </a:p>
          <a:p>
            <a:pPr>
              <a:buFont typeface="+mj-lt"/>
              <a:buAutoNum type="arabicPeriod"/>
            </a:pPr>
            <a:r>
              <a:rPr lang="en-US" sz="2000" b="1" dirty="0">
                <a:solidFill>
                  <a:srgbClr val="0EC8B6"/>
                </a:solidFill>
              </a:rPr>
              <a:t>Emerging and Niche Markets:</a:t>
            </a:r>
            <a:r>
              <a:rPr lang="en-US" sz="2000" dirty="0">
                <a:solidFill>
                  <a:srgbClr val="0EC8B6"/>
                </a:solidFill>
              </a:rPr>
              <a:t> Australia, the U.K., Italy, Japan, and Singapore also contribute meaningfully, each securing top-four positions in various product lines.</a:t>
            </a:r>
          </a:p>
          <a:p>
            <a:pPr marL="0" indent="0">
              <a:buNone/>
            </a:pPr>
            <a:r>
              <a:rPr lang="en-US" sz="2000" b="1" dirty="0">
                <a:solidFill>
                  <a:schemeClr val="accent6">
                    <a:lumMod val="60000"/>
                    <a:lumOff val="40000"/>
                  </a:schemeClr>
                </a:solidFill>
              </a:rPr>
              <a:t>Business Implication:</a:t>
            </a:r>
            <a:br>
              <a:rPr lang="en-US" sz="2000" dirty="0">
                <a:solidFill>
                  <a:schemeClr val="accent6">
                    <a:lumMod val="60000"/>
                    <a:lumOff val="40000"/>
                  </a:schemeClr>
                </a:solidFill>
              </a:rPr>
            </a:br>
            <a:r>
              <a:rPr lang="en-US" sz="2000" dirty="0">
                <a:solidFill>
                  <a:schemeClr val="accent6">
                    <a:lumMod val="60000"/>
                    <a:lumOff val="40000"/>
                  </a:schemeClr>
                </a:solidFill>
              </a:rPr>
              <a:t>These insights should guide the global outreach strategy—prioritizing the U.S. for growth initiatives, leveraging Spain’s high uptake with targeted promotions with tailored-offerings and supply-chain allocations to maximize France’s mid-market potential and emerging opportunities in Australia, U.K, Italy, Japan, and Singapore.</a:t>
            </a:r>
          </a:p>
        </p:txBody>
      </p:sp>
      <p:sp>
        <p:nvSpPr>
          <p:cNvPr id="23" name="Slide Number Placeholder 22">
            <a:extLst>
              <a:ext uri="{FF2B5EF4-FFF2-40B4-BE49-F238E27FC236}">
                <a16:creationId xmlns:a16="http://schemas.microsoft.com/office/drawing/2014/main" id="{5111270F-4B1E-3C9A-14D2-8569DC3562D4}"/>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6569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769769" y="6465168"/>
            <a:ext cx="1067589" cy="471489"/>
          </a:xfrm>
        </p:spPr>
        <p:txBody>
          <a:bodyPr/>
          <a:lstStyle/>
          <a:p>
            <a:fld id="{48F63A3B-78C7-47BE-AE5E-E10140E04643}" type="slidenum">
              <a:rPr lang="en-US" smtClean="0"/>
              <a:pPr/>
              <a:t>11</a:t>
            </a:fld>
            <a:endParaRPr lang="en-US" dirty="0"/>
          </a:p>
        </p:txBody>
      </p:sp>
      <p:pic>
        <p:nvPicPr>
          <p:cNvPr id="16" name="Picture 15">
            <a:extLst>
              <a:ext uri="{FF2B5EF4-FFF2-40B4-BE49-F238E27FC236}">
                <a16:creationId xmlns:a16="http://schemas.microsoft.com/office/drawing/2014/main" id="{A17F9CBD-08A8-D6B0-D197-015A04D6C1CE}"/>
              </a:ext>
            </a:extLst>
          </p:cNvPr>
          <p:cNvPicPr>
            <a:picLocks noChangeAspect="1"/>
          </p:cNvPicPr>
          <p:nvPr/>
        </p:nvPicPr>
        <p:blipFill>
          <a:blip r:embed="rId3"/>
          <a:stretch>
            <a:fillRect/>
          </a:stretch>
        </p:blipFill>
        <p:spPr>
          <a:xfrm>
            <a:off x="1101213" y="1"/>
            <a:ext cx="11090787" cy="6858000"/>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CEAA-4B23-6E79-1033-F0F502BDB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5AF19-D9BB-974C-0C83-570CF6353F10}"/>
              </a:ext>
            </a:extLst>
          </p:cNvPr>
          <p:cNvSpPr>
            <a:spLocks noGrp="1"/>
          </p:cNvSpPr>
          <p:nvPr>
            <p:ph type="title"/>
          </p:nvPr>
        </p:nvSpPr>
        <p:spPr>
          <a:xfrm>
            <a:off x="3460565" y="149499"/>
            <a:ext cx="7965461" cy="994164"/>
          </a:xfrm>
        </p:spPr>
        <p:txBody>
          <a:bodyPr/>
          <a:lstStyle/>
          <a:p>
            <a:r>
              <a:rPr lang="en-US" dirty="0">
                <a:latin typeface="Bahnschrift" panose="020B0502040204020203" pitchFamily="34" charset="0"/>
              </a:rPr>
              <a:t>The Yearly Line Graph</a:t>
            </a:r>
          </a:p>
        </p:txBody>
      </p:sp>
      <p:sp>
        <p:nvSpPr>
          <p:cNvPr id="3" name="Content Placeholder 2">
            <a:extLst>
              <a:ext uri="{FF2B5EF4-FFF2-40B4-BE49-F238E27FC236}">
                <a16:creationId xmlns:a16="http://schemas.microsoft.com/office/drawing/2014/main" id="{F40F62D3-53A4-11D9-AB18-BC8EBDDF1D7C}"/>
              </a:ext>
            </a:extLst>
          </p:cNvPr>
          <p:cNvSpPr>
            <a:spLocks noGrp="1"/>
          </p:cNvSpPr>
          <p:nvPr>
            <p:ph sz="half" idx="2"/>
          </p:nvPr>
        </p:nvSpPr>
        <p:spPr>
          <a:xfrm>
            <a:off x="2576052" y="1236388"/>
            <a:ext cx="9311148" cy="5588534"/>
          </a:xfrm>
        </p:spPr>
        <p:txBody>
          <a:bodyPr/>
          <a:lstStyle/>
          <a:p>
            <a:r>
              <a:rPr lang="en-US" dirty="0">
                <a:solidFill>
                  <a:srgbClr val="0EC8B6"/>
                </a:solidFill>
                <a:latin typeface="Bahnschrift" panose="020B0502040204020203" pitchFamily="34" charset="0"/>
              </a:rPr>
              <a:t>The </a:t>
            </a:r>
            <a:r>
              <a:rPr lang="en-US" b="1" dirty="0">
                <a:solidFill>
                  <a:srgbClr val="0EC8B6"/>
                </a:solidFill>
                <a:latin typeface="Bahnschrift" panose="020B0502040204020203" pitchFamily="34" charset="0"/>
              </a:rPr>
              <a:t>Overview of 2019 Sales Trends:</a:t>
            </a:r>
            <a:r>
              <a:rPr lang="en-US" dirty="0">
                <a:solidFill>
                  <a:srgbClr val="0EC8B6"/>
                </a:solidFill>
                <a:latin typeface="Bahnschrift" panose="020B0502040204020203" pitchFamily="34" charset="0"/>
              </a:rPr>
              <a:t> This multi‐series line chart compares monthly sales performance across all product lines throughout 2019. </a:t>
            </a:r>
            <a:r>
              <a:rPr lang="en-US" b="1" dirty="0">
                <a:solidFill>
                  <a:srgbClr val="0EC8B6"/>
                </a:solidFill>
                <a:latin typeface="Bahnschrift" panose="020B0502040204020203" pitchFamily="34" charset="0"/>
              </a:rPr>
              <a:t>Year-End Build-Up:</a:t>
            </a:r>
            <a:r>
              <a:rPr lang="en-US" dirty="0">
                <a:solidFill>
                  <a:srgbClr val="0EC8B6"/>
                </a:solidFill>
                <a:latin typeface="Bahnschrift" panose="020B0502040204020203" pitchFamily="34" charset="0"/>
              </a:rPr>
              <a:t> Sales for every line accelerate beginning in October and culminate in a November peak, suggesting customers stock up ahead of the holiday and vacation season in December and January.</a:t>
            </a:r>
          </a:p>
          <a:p>
            <a:r>
              <a:rPr lang="en-IN" dirty="0">
                <a:solidFill>
                  <a:srgbClr val="0EC8B6"/>
                </a:solidFill>
                <a:latin typeface="Bahnschrift" panose="020B0502040204020203" pitchFamily="34" charset="0"/>
              </a:rPr>
              <a:t>Mid-Year Spikes by Category:</a:t>
            </a:r>
          </a:p>
          <a:p>
            <a:pPr lvl="2">
              <a:buFont typeface="+mj-lt"/>
              <a:buAutoNum type="arabicPeriod"/>
            </a:pPr>
            <a:r>
              <a:rPr lang="en-US" b="1" dirty="0">
                <a:solidFill>
                  <a:srgbClr val="0EC8B6"/>
                </a:solidFill>
                <a:latin typeface="Bahnschrift" panose="020B0502040204020203" pitchFamily="34" charset="0"/>
              </a:rPr>
              <a:t>Classic Cars, Vintage Cars &amp; Motorcycles:</a:t>
            </a:r>
            <a:r>
              <a:rPr lang="en-US" dirty="0">
                <a:solidFill>
                  <a:srgbClr val="0EC8B6"/>
                </a:solidFill>
                <a:latin typeface="Bahnschrift" panose="020B0502040204020203" pitchFamily="34" charset="0"/>
              </a:rPr>
              <a:t> Noticeable uplift in August, indicating a late-summer demand surge. </a:t>
            </a:r>
          </a:p>
          <a:p>
            <a:pPr lvl="2">
              <a:buFont typeface="+mj-lt"/>
              <a:buAutoNum type="arabicPeriod"/>
            </a:pPr>
            <a:r>
              <a:rPr lang="en-US" b="1" dirty="0">
                <a:solidFill>
                  <a:srgbClr val="0EC8B6"/>
                </a:solidFill>
                <a:latin typeface="Bahnschrift" panose="020B0502040204020203" pitchFamily="34" charset="0"/>
              </a:rPr>
              <a:t>Planes &amp; Ships:</a:t>
            </a:r>
            <a:r>
              <a:rPr lang="en-US" dirty="0">
                <a:solidFill>
                  <a:srgbClr val="0EC8B6"/>
                </a:solidFill>
                <a:latin typeface="Bahnschrift" panose="020B0502040204020203" pitchFamily="34" charset="0"/>
              </a:rPr>
              <a:t> Two pronounced peaks—one in February and another in May—perhaps tied to specific shipping cycles or industry events</a:t>
            </a:r>
          </a:p>
          <a:p>
            <a:pPr lvl="2">
              <a:buFont typeface="+mj-lt"/>
              <a:buAutoNum type="arabicPeriod"/>
            </a:pPr>
            <a:r>
              <a:rPr lang="en-US" b="1" dirty="0">
                <a:solidFill>
                  <a:srgbClr val="0EC8B6"/>
                </a:solidFill>
                <a:latin typeface="Bahnschrift" panose="020B0502040204020203" pitchFamily="34" charset="0"/>
              </a:rPr>
              <a:t>Vintage cars , Trucks and Buses  </a:t>
            </a:r>
            <a:r>
              <a:rPr lang="en-US" dirty="0">
                <a:solidFill>
                  <a:srgbClr val="0EC8B6"/>
                </a:solidFill>
                <a:latin typeface="Bahnschrift" panose="020B0502040204020203" pitchFamily="34" charset="0"/>
              </a:rPr>
              <a:t>Elevated sales from March through June.</a:t>
            </a:r>
          </a:p>
          <a:p>
            <a:pPr lvl="2">
              <a:buFont typeface="+mj-lt"/>
              <a:buAutoNum type="arabicPeriod"/>
            </a:pPr>
            <a:r>
              <a:rPr lang="en-US" b="1" dirty="0">
                <a:solidFill>
                  <a:srgbClr val="0EC8B6"/>
                </a:solidFill>
                <a:latin typeface="Bahnschrift" panose="020B0502040204020203" pitchFamily="34" charset="0"/>
              </a:rPr>
              <a:t>Planes:</a:t>
            </a:r>
            <a:r>
              <a:rPr lang="en-US" dirty="0">
                <a:solidFill>
                  <a:srgbClr val="0EC8B6"/>
                </a:solidFill>
                <a:latin typeface="Bahnschrift" panose="020B0502040204020203" pitchFamily="34" charset="0"/>
              </a:rPr>
              <a:t> Steady increase from May to July.</a:t>
            </a:r>
          </a:p>
          <a:p>
            <a:pPr lvl="2">
              <a:buFont typeface="+mj-lt"/>
              <a:buAutoNum type="arabicPeriod"/>
            </a:pPr>
            <a:r>
              <a:rPr lang="en-US" dirty="0">
                <a:solidFill>
                  <a:srgbClr val="0EC8B6"/>
                </a:solidFill>
                <a:latin typeface="Bahnschrift" panose="020B0502040204020203" pitchFamily="34" charset="0"/>
              </a:rPr>
              <a:t>Trains  : Distinct growth phases in March and again in July.</a:t>
            </a:r>
          </a:p>
          <a:p>
            <a:pPr marL="0" indent="0">
              <a:buNone/>
            </a:pPr>
            <a:r>
              <a:rPr lang="en-US" b="1" dirty="0">
                <a:solidFill>
                  <a:schemeClr val="accent6">
                    <a:lumMod val="60000"/>
                    <a:lumOff val="40000"/>
                  </a:schemeClr>
                </a:solidFill>
              </a:rPr>
              <a:t>Implications for Inventory &amp; Marketing:</a:t>
            </a:r>
            <a:r>
              <a:rPr lang="en-US" dirty="0">
                <a:solidFill>
                  <a:schemeClr val="accent6">
                    <a:lumMod val="60000"/>
                    <a:lumOff val="40000"/>
                  </a:schemeClr>
                </a:solidFill>
              </a:rPr>
              <a:t> By pinpointing these seasonal upticks, we can optimize production schedules, tailor promotional campaigns, and adjust inventory levels to meet each product line’s unique demand cycle. </a:t>
            </a:r>
            <a:endParaRPr lang="en-US" dirty="0">
              <a:solidFill>
                <a:schemeClr val="accent6">
                  <a:lumMod val="60000"/>
                  <a:lumOff val="40000"/>
                </a:schemeClr>
              </a:solidFill>
              <a:latin typeface="Bahnschrift" panose="020B0502040204020203" pitchFamily="34" charset="0"/>
            </a:endParaRPr>
          </a:p>
        </p:txBody>
      </p:sp>
      <p:sp>
        <p:nvSpPr>
          <p:cNvPr id="23" name="Slide Number Placeholder 22">
            <a:extLst>
              <a:ext uri="{FF2B5EF4-FFF2-40B4-BE49-F238E27FC236}">
                <a16:creationId xmlns:a16="http://schemas.microsoft.com/office/drawing/2014/main" id="{8A9B4E82-A805-67B4-6A77-74E1530E3466}"/>
              </a:ext>
            </a:extLst>
          </p:cNvPr>
          <p:cNvSpPr>
            <a:spLocks noGrp="1"/>
          </p:cNvSpPr>
          <p:nvPr>
            <p:ph type="sldNum" sz="quarter" idx="10"/>
          </p:nvPr>
        </p:nvSpPr>
        <p:spPr>
          <a:xfrm>
            <a:off x="-762789" y="6417342"/>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09408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5BC1-A997-C907-4C71-BE0209D4FC12}"/>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29EEFCC1-5B94-31E7-AB4E-703E7E92186F}"/>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13</a:t>
            </a:fld>
            <a:endParaRPr lang="en-US" dirty="0"/>
          </a:p>
        </p:txBody>
      </p:sp>
      <p:pic>
        <p:nvPicPr>
          <p:cNvPr id="6" name="Picture 5">
            <a:extLst>
              <a:ext uri="{FF2B5EF4-FFF2-40B4-BE49-F238E27FC236}">
                <a16:creationId xmlns:a16="http://schemas.microsoft.com/office/drawing/2014/main" id="{425C636A-633F-B9EA-EEE2-17CFFC000AD8}"/>
              </a:ext>
            </a:extLst>
          </p:cNvPr>
          <p:cNvPicPr>
            <a:picLocks noChangeAspect="1"/>
          </p:cNvPicPr>
          <p:nvPr/>
        </p:nvPicPr>
        <p:blipFill>
          <a:blip r:embed="rId3"/>
          <a:stretch>
            <a:fillRect/>
          </a:stretch>
        </p:blipFill>
        <p:spPr>
          <a:xfrm>
            <a:off x="1097618" y="0"/>
            <a:ext cx="11094382" cy="6858000"/>
          </a:xfrm>
          <a:prstGeom prst="rect">
            <a:avLst/>
          </a:prstGeom>
        </p:spPr>
      </p:pic>
    </p:spTree>
    <p:extLst>
      <p:ext uri="{BB962C8B-B14F-4D97-AF65-F5344CB8AC3E}">
        <p14:creationId xmlns:p14="http://schemas.microsoft.com/office/powerpoint/2010/main" val="1827609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36309-1BF3-EBF1-29BD-A6800067B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BC1B1-A6C4-8C29-387D-5B94CB8630F0}"/>
              </a:ext>
            </a:extLst>
          </p:cNvPr>
          <p:cNvSpPr>
            <a:spLocks noGrp="1"/>
          </p:cNvSpPr>
          <p:nvPr>
            <p:ph type="title"/>
          </p:nvPr>
        </p:nvSpPr>
        <p:spPr>
          <a:xfrm>
            <a:off x="3460565" y="149499"/>
            <a:ext cx="7965461" cy="994164"/>
          </a:xfrm>
        </p:spPr>
        <p:txBody>
          <a:bodyPr/>
          <a:lstStyle/>
          <a:p>
            <a:r>
              <a:rPr lang="en-US" dirty="0">
                <a:latin typeface="Bahnschrift" panose="020B0502040204020203" pitchFamily="34" charset="0"/>
              </a:rPr>
              <a:t>Customers wRT Orders</a:t>
            </a:r>
          </a:p>
        </p:txBody>
      </p:sp>
      <p:sp>
        <p:nvSpPr>
          <p:cNvPr id="3" name="Content Placeholder 2">
            <a:extLst>
              <a:ext uri="{FF2B5EF4-FFF2-40B4-BE49-F238E27FC236}">
                <a16:creationId xmlns:a16="http://schemas.microsoft.com/office/drawing/2014/main" id="{2948E8C7-B0E7-F7F0-C76C-0989EB0C161A}"/>
              </a:ext>
            </a:extLst>
          </p:cNvPr>
          <p:cNvSpPr>
            <a:spLocks noGrp="1"/>
          </p:cNvSpPr>
          <p:nvPr>
            <p:ph sz="half" idx="2"/>
          </p:nvPr>
        </p:nvSpPr>
        <p:spPr>
          <a:xfrm>
            <a:off x="2684207" y="1408222"/>
            <a:ext cx="9330812" cy="5588534"/>
          </a:xfrm>
        </p:spPr>
        <p:txBody>
          <a:bodyPr>
            <a:normAutofit/>
          </a:bodyPr>
          <a:lstStyle/>
          <a:p>
            <a:r>
              <a:rPr lang="en-US" sz="2400" dirty="0">
                <a:solidFill>
                  <a:srgbClr val="0EC8B6"/>
                </a:solidFill>
                <a:latin typeface="Bahnschrift" panose="020B0502040204020203" pitchFamily="34" charset="0"/>
              </a:rPr>
              <a:t>The illustration is intended to highlight the Top N(input by user)no of customers by total quantity ordered with customers belonging to X(input by the user) Product Line.</a:t>
            </a:r>
          </a:p>
          <a:p>
            <a:r>
              <a:rPr lang="en-US" sz="2400" dirty="0">
                <a:solidFill>
                  <a:srgbClr val="0EC8B6"/>
                </a:solidFill>
                <a:latin typeface="Bahnschrift" panose="020B0502040204020203" pitchFamily="34" charset="0"/>
              </a:rPr>
              <a:t>The greatest number of orders were placed by the Customer Euro Shopping Channel from Spain where the no of orders all through out the customers tenure.</a:t>
            </a:r>
          </a:p>
          <a:p>
            <a:r>
              <a:rPr lang="en-US" sz="2400" dirty="0">
                <a:solidFill>
                  <a:srgbClr val="0EC8B6"/>
                </a:solidFill>
                <a:latin typeface="Bahnschrift" panose="020B0502040204020203" pitchFamily="34" charset="0"/>
              </a:rPr>
              <a:t>Total quantity ordered =3816, number of orders = 106.</a:t>
            </a:r>
          </a:p>
          <a:p>
            <a:r>
              <a:rPr lang="en-US" sz="2400" dirty="0">
                <a:solidFill>
                  <a:srgbClr val="0EC8B6"/>
                </a:solidFill>
                <a:latin typeface="Bahnschrift" panose="020B0502040204020203" pitchFamily="34" charset="0"/>
              </a:rPr>
              <a:t>The N Value selected was 9 but interestingly there was no Product Line chosen which signifies that the chart in Tableau shows a customer who has purchased the most across all the product lines. </a:t>
            </a:r>
          </a:p>
          <a:p>
            <a:endParaRPr lang="en-US" sz="2400" dirty="0">
              <a:solidFill>
                <a:srgbClr val="0EC8B6"/>
              </a:solidFill>
              <a:latin typeface="Bahnschrift" panose="020B0502040204020203" pitchFamily="34" charset="0"/>
            </a:endParaRPr>
          </a:p>
          <a:p>
            <a:endParaRPr lang="en-US" sz="2400" u="sng" dirty="0">
              <a:solidFill>
                <a:srgbClr val="0EC8B6"/>
              </a:solidFill>
              <a:latin typeface="Bahnschrift" panose="020B0502040204020203" pitchFamily="34" charset="0"/>
            </a:endParaRPr>
          </a:p>
          <a:p>
            <a:pPr marL="0" indent="0">
              <a:buNone/>
            </a:pPr>
            <a:endParaRPr lang="en-US" sz="2400" dirty="0">
              <a:solidFill>
                <a:srgbClr val="0EC8B6"/>
              </a:solidFill>
              <a:latin typeface="Bahnschrift" panose="020B0502040204020203" pitchFamily="34" charset="0"/>
            </a:endParaRPr>
          </a:p>
        </p:txBody>
      </p:sp>
      <p:sp>
        <p:nvSpPr>
          <p:cNvPr id="23" name="Slide Number Placeholder 22">
            <a:extLst>
              <a:ext uri="{FF2B5EF4-FFF2-40B4-BE49-F238E27FC236}">
                <a16:creationId xmlns:a16="http://schemas.microsoft.com/office/drawing/2014/main" id="{86C3DFCC-6D1A-E562-79CE-538829AE7CA9}"/>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401605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7BA6-66B4-57B6-3347-8FD36C24993D}"/>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4C771FB5-01A8-2360-9F0E-76C29C4574A2}"/>
              </a:ext>
            </a:extLst>
          </p:cNvPr>
          <p:cNvSpPr>
            <a:spLocks noGrp="1"/>
          </p:cNvSpPr>
          <p:nvPr>
            <p:ph type="sldNum" sz="quarter" idx="10"/>
          </p:nvPr>
        </p:nvSpPr>
        <p:spPr>
          <a:xfrm>
            <a:off x="-833526" y="6494099"/>
            <a:ext cx="1067589" cy="471489"/>
          </a:xfrm>
        </p:spPr>
        <p:txBody>
          <a:bodyPr/>
          <a:lstStyle/>
          <a:p>
            <a:fld id="{48F63A3B-78C7-47BE-AE5E-E10140E04643}" type="slidenum">
              <a:rPr lang="en-US" smtClean="0"/>
              <a:pPr/>
              <a:t>15</a:t>
            </a:fld>
            <a:endParaRPr lang="en-US" dirty="0"/>
          </a:p>
        </p:txBody>
      </p:sp>
      <p:pic>
        <p:nvPicPr>
          <p:cNvPr id="3" name="Picture 2">
            <a:extLst>
              <a:ext uri="{FF2B5EF4-FFF2-40B4-BE49-F238E27FC236}">
                <a16:creationId xmlns:a16="http://schemas.microsoft.com/office/drawing/2014/main" id="{1B1CA6DB-75CF-2FC4-9E65-BFD48824D9DC}"/>
              </a:ext>
            </a:extLst>
          </p:cNvPr>
          <p:cNvPicPr>
            <a:picLocks noChangeAspect="1"/>
          </p:cNvPicPr>
          <p:nvPr/>
        </p:nvPicPr>
        <p:blipFill>
          <a:blip r:embed="rId3"/>
          <a:stretch>
            <a:fillRect/>
          </a:stretch>
        </p:blipFill>
        <p:spPr>
          <a:xfrm>
            <a:off x="0" y="0"/>
            <a:ext cx="12192000" cy="6494099"/>
          </a:xfrm>
          <a:prstGeom prst="rect">
            <a:avLst/>
          </a:prstGeom>
        </p:spPr>
      </p:pic>
    </p:spTree>
    <p:extLst>
      <p:ext uri="{BB962C8B-B14F-4D97-AF65-F5344CB8AC3E}">
        <p14:creationId xmlns:p14="http://schemas.microsoft.com/office/powerpoint/2010/main" val="235341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4643-93C6-EF25-10CD-C2D17C80F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51F6C-ADBD-977B-F926-62926C229AE5}"/>
              </a:ext>
            </a:extLst>
          </p:cNvPr>
          <p:cNvSpPr>
            <a:spLocks noGrp="1"/>
          </p:cNvSpPr>
          <p:nvPr>
            <p:ph type="title"/>
          </p:nvPr>
        </p:nvSpPr>
        <p:spPr>
          <a:xfrm>
            <a:off x="3460565" y="149499"/>
            <a:ext cx="7965461" cy="994164"/>
          </a:xfrm>
        </p:spPr>
        <p:txBody>
          <a:bodyPr/>
          <a:lstStyle/>
          <a:p>
            <a:r>
              <a:rPr lang="en-US" sz="3200" dirty="0">
                <a:latin typeface="Bahnschrift" panose="020B0502040204020203" pitchFamily="34" charset="0"/>
              </a:rPr>
              <a:t>Customers ranked by Qt ordered</a:t>
            </a:r>
          </a:p>
        </p:txBody>
      </p:sp>
      <p:sp>
        <p:nvSpPr>
          <p:cNvPr id="3" name="Content Placeholder 2">
            <a:extLst>
              <a:ext uri="{FF2B5EF4-FFF2-40B4-BE49-F238E27FC236}">
                <a16:creationId xmlns:a16="http://schemas.microsoft.com/office/drawing/2014/main" id="{1D108FA6-B317-5F98-0326-04A5D3B14AC9}"/>
              </a:ext>
            </a:extLst>
          </p:cNvPr>
          <p:cNvSpPr>
            <a:spLocks noGrp="1"/>
          </p:cNvSpPr>
          <p:nvPr>
            <p:ph sz="half" idx="2"/>
          </p:nvPr>
        </p:nvSpPr>
        <p:spPr>
          <a:xfrm>
            <a:off x="3322913" y="1536041"/>
            <a:ext cx="8426635" cy="5588534"/>
          </a:xfrm>
        </p:spPr>
        <p:txBody>
          <a:bodyPr>
            <a:normAutofit/>
          </a:bodyPr>
          <a:lstStyle/>
          <a:p>
            <a:pPr marL="457200" indent="-457200">
              <a:buFont typeface="+mj-lt"/>
              <a:buAutoNum type="arabicPeriod"/>
            </a:pPr>
            <a:r>
              <a:rPr lang="en-US" sz="2400" b="1" dirty="0">
                <a:solidFill>
                  <a:srgbClr val="0EC8B6"/>
                </a:solidFill>
              </a:rPr>
              <a:t>Tree map Overview:</a:t>
            </a:r>
            <a:r>
              <a:rPr lang="en-US" sz="2400" dirty="0">
                <a:solidFill>
                  <a:srgbClr val="0EC8B6"/>
                </a:solidFill>
              </a:rPr>
              <a:t> This tree map visualizes our highest-value customers by displaying each account’s total sales alongside the quantity of items ordered</a:t>
            </a:r>
          </a:p>
          <a:p>
            <a:pPr marL="457200" indent="-457200">
              <a:buFont typeface="+mj-lt"/>
              <a:buAutoNum type="arabicPeriod"/>
            </a:pPr>
            <a:endParaRPr lang="en-US" sz="2400" dirty="0">
              <a:solidFill>
                <a:srgbClr val="0EC8B6"/>
              </a:solidFill>
            </a:endParaRPr>
          </a:p>
          <a:p>
            <a:pPr marL="457200" indent="-457200">
              <a:buFont typeface="+mj-lt"/>
              <a:buAutoNum type="arabicPeriod"/>
            </a:pPr>
            <a:r>
              <a:rPr lang="en-US" sz="2400" b="1" dirty="0">
                <a:solidFill>
                  <a:srgbClr val="0EC8B6"/>
                </a:solidFill>
              </a:rPr>
              <a:t>Revenue Concentration:</a:t>
            </a:r>
            <a:r>
              <a:rPr lang="en-US" sz="2400" dirty="0">
                <a:solidFill>
                  <a:srgbClr val="0EC8B6"/>
                </a:solidFill>
              </a:rPr>
              <a:t> By sizing each tile according to revenue and coloring by order volume, it clearly highlights which customers contribute the greatest share of sales.</a:t>
            </a:r>
          </a:p>
          <a:p>
            <a:pPr marL="457200" indent="-457200">
              <a:buFont typeface="+mj-lt"/>
              <a:buAutoNum type="arabicPeriod"/>
            </a:pPr>
            <a:endParaRPr lang="en-US" sz="2400" dirty="0">
              <a:solidFill>
                <a:srgbClr val="0EC8B6"/>
              </a:solidFill>
              <a:latin typeface="Bahnschrift" panose="020B0502040204020203" pitchFamily="34" charset="0"/>
            </a:endParaRPr>
          </a:p>
          <a:p>
            <a:pPr marL="0" indent="0">
              <a:buNone/>
            </a:pPr>
            <a:r>
              <a:rPr lang="en-US" sz="2400" b="1" dirty="0">
                <a:solidFill>
                  <a:srgbClr val="0EC8B6"/>
                </a:solidFill>
              </a:rPr>
              <a:t>Actionable Insight:</a:t>
            </a:r>
            <a:r>
              <a:rPr lang="en-US" sz="2400" dirty="0">
                <a:solidFill>
                  <a:srgbClr val="0EC8B6"/>
                </a:solidFill>
              </a:rPr>
              <a:t> Identifying these top-performing accounts enables us to allocate premium support, prioritize strategic outreach, and tailor service levels to maximize retention and growth.</a:t>
            </a:r>
            <a:endParaRPr lang="en-US" sz="2400" dirty="0">
              <a:solidFill>
                <a:srgbClr val="0EC8B6"/>
              </a:solidFill>
              <a:latin typeface="Bahnschrift" panose="020B0502040204020203" pitchFamily="34" charset="0"/>
            </a:endParaRPr>
          </a:p>
        </p:txBody>
      </p:sp>
      <p:sp>
        <p:nvSpPr>
          <p:cNvPr id="23" name="Slide Number Placeholder 22">
            <a:extLst>
              <a:ext uri="{FF2B5EF4-FFF2-40B4-BE49-F238E27FC236}">
                <a16:creationId xmlns:a16="http://schemas.microsoft.com/office/drawing/2014/main" id="{3745AD72-D292-1130-4D56-1CFC19C65F88}"/>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1887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FCC57-41B2-A516-1F0F-0FA1D0138806}"/>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C2FC1848-6780-F68D-55D0-39DAB742B528}"/>
              </a:ext>
            </a:extLst>
          </p:cNvPr>
          <p:cNvSpPr>
            <a:spLocks noGrp="1"/>
          </p:cNvSpPr>
          <p:nvPr>
            <p:ph type="sldNum" sz="quarter" idx="10"/>
          </p:nvPr>
        </p:nvSpPr>
        <p:spPr>
          <a:xfrm>
            <a:off x="-725371" y="6494099"/>
            <a:ext cx="1067589" cy="471489"/>
          </a:xfrm>
        </p:spPr>
        <p:txBody>
          <a:bodyPr/>
          <a:lstStyle/>
          <a:p>
            <a:fld id="{48F63A3B-78C7-47BE-AE5E-E10140E04643}" type="slidenum">
              <a:rPr lang="en-US" smtClean="0"/>
              <a:pPr/>
              <a:t>17</a:t>
            </a:fld>
            <a:endParaRPr lang="en-US" dirty="0"/>
          </a:p>
        </p:txBody>
      </p:sp>
      <p:pic>
        <p:nvPicPr>
          <p:cNvPr id="8" name="Picture 7">
            <a:extLst>
              <a:ext uri="{FF2B5EF4-FFF2-40B4-BE49-F238E27FC236}">
                <a16:creationId xmlns:a16="http://schemas.microsoft.com/office/drawing/2014/main" id="{BC21CBB5-4331-02B2-2C45-0C70218BC0CC}"/>
              </a:ext>
            </a:extLst>
          </p:cNvPr>
          <p:cNvPicPr>
            <a:picLocks noChangeAspect="1"/>
          </p:cNvPicPr>
          <p:nvPr/>
        </p:nvPicPr>
        <p:blipFill>
          <a:blip r:embed="rId3"/>
          <a:stretch>
            <a:fillRect/>
          </a:stretch>
        </p:blipFill>
        <p:spPr>
          <a:xfrm>
            <a:off x="0" y="0"/>
            <a:ext cx="5574890" cy="6494099"/>
          </a:xfrm>
          <a:prstGeom prst="rect">
            <a:avLst/>
          </a:prstGeom>
        </p:spPr>
      </p:pic>
      <p:sp>
        <p:nvSpPr>
          <p:cNvPr id="9" name="Content Placeholder 2">
            <a:extLst>
              <a:ext uri="{FF2B5EF4-FFF2-40B4-BE49-F238E27FC236}">
                <a16:creationId xmlns:a16="http://schemas.microsoft.com/office/drawing/2014/main" id="{4B0B5363-2DA3-18B3-556F-2DABC3DD9D55}"/>
              </a:ext>
            </a:extLst>
          </p:cNvPr>
          <p:cNvSpPr>
            <a:spLocks noGrp="1"/>
          </p:cNvSpPr>
          <p:nvPr>
            <p:ph sz="half" idx="2"/>
          </p:nvPr>
        </p:nvSpPr>
        <p:spPr>
          <a:xfrm>
            <a:off x="5574890" y="1112149"/>
            <a:ext cx="6125496" cy="6858000"/>
          </a:xfrm>
        </p:spPr>
        <p:txBody>
          <a:bodyPr>
            <a:normAutofit/>
          </a:bodyPr>
          <a:lstStyle/>
          <a:p>
            <a:pPr marL="0" indent="0">
              <a:buNone/>
            </a:pPr>
            <a:r>
              <a:rPr lang="en-US" sz="2000" dirty="0">
                <a:solidFill>
                  <a:srgbClr val="0EC8B6"/>
                </a:solidFill>
                <a:latin typeface="Bahnschrift" panose="020B0502040204020203" pitchFamily="34" charset="0"/>
              </a:rPr>
              <a:t>The table aims to illustrate the average of days since the last order was placed by the customers.</a:t>
            </a:r>
          </a:p>
          <a:p>
            <a:pPr marL="457200" indent="-457200">
              <a:buFont typeface="+mj-lt"/>
              <a:buAutoNum type="arabicPeriod"/>
            </a:pPr>
            <a:r>
              <a:rPr lang="en-US" sz="2000" dirty="0">
                <a:solidFill>
                  <a:srgbClr val="0EC8B6"/>
                </a:solidFill>
                <a:latin typeface="Bahnschrift" panose="020B0502040204020203" pitchFamily="34" charset="0"/>
              </a:rPr>
              <a:t>The days since last order metric aims to forecast how recently the customer has placed the order.</a:t>
            </a:r>
          </a:p>
          <a:p>
            <a:pPr marL="457200" indent="-457200">
              <a:buFont typeface="+mj-lt"/>
              <a:buAutoNum type="arabicPeriod"/>
            </a:pPr>
            <a:r>
              <a:rPr lang="en-US" sz="2000" dirty="0">
                <a:solidFill>
                  <a:srgbClr val="0EC8B6"/>
                </a:solidFill>
                <a:latin typeface="Bahnschrift" panose="020B0502040204020203" pitchFamily="34" charset="0"/>
              </a:rPr>
              <a:t> This tables helps will help the organization have an idea about the country with the highest number of active customers as the recency factor is indicative of customer’s trust and active association.</a:t>
            </a:r>
          </a:p>
          <a:p>
            <a:pPr marL="457200" indent="-457200">
              <a:buFont typeface="+mj-lt"/>
              <a:buAutoNum type="arabicPeriod"/>
            </a:pPr>
            <a:r>
              <a:rPr lang="en-US" sz="2000" dirty="0">
                <a:solidFill>
                  <a:srgbClr val="0EC8B6"/>
                </a:solidFill>
                <a:latin typeface="Bahnschrift" panose="020B0502040204020203" pitchFamily="34" charset="0"/>
              </a:rPr>
              <a:t>The lesser the factor more does it signify the active engagement.</a:t>
            </a:r>
          </a:p>
          <a:p>
            <a:pPr marL="0" indent="0">
              <a:buNone/>
            </a:pPr>
            <a:r>
              <a:rPr lang="en-US" sz="2000" dirty="0">
                <a:solidFill>
                  <a:schemeClr val="accent6">
                    <a:lumMod val="60000"/>
                    <a:lumOff val="40000"/>
                  </a:schemeClr>
                </a:solidFill>
                <a:latin typeface="Bahnschrift" panose="020B0502040204020203" pitchFamily="34" charset="0"/>
              </a:rPr>
              <a:t>Business Implication : Organization can provide the customers with loyalty benefits such as priority delivery, credit facilities. </a:t>
            </a:r>
          </a:p>
        </p:txBody>
      </p:sp>
      <p:sp>
        <p:nvSpPr>
          <p:cNvPr id="10" name="TextBox 9">
            <a:extLst>
              <a:ext uri="{FF2B5EF4-FFF2-40B4-BE49-F238E27FC236}">
                <a16:creationId xmlns:a16="http://schemas.microsoft.com/office/drawing/2014/main" id="{84BD7D24-2156-0A14-33FB-C0A7E523517A}"/>
              </a:ext>
            </a:extLst>
          </p:cNvPr>
          <p:cNvSpPr txBox="1"/>
          <p:nvPr/>
        </p:nvSpPr>
        <p:spPr>
          <a:xfrm>
            <a:off x="5781368" y="341982"/>
            <a:ext cx="5663380" cy="523220"/>
          </a:xfrm>
          <a:prstGeom prst="rect">
            <a:avLst/>
          </a:prstGeom>
          <a:noFill/>
        </p:spPr>
        <p:txBody>
          <a:bodyPr wrap="square" rtlCol="0">
            <a:spAutoFit/>
          </a:bodyPr>
          <a:lstStyle/>
          <a:p>
            <a:pPr algn="ctr"/>
            <a:r>
              <a:rPr lang="en-US" sz="2800" dirty="0">
                <a:solidFill>
                  <a:srgbClr val="002060"/>
                </a:solidFill>
                <a:latin typeface="Bahnschrift" panose="020B0502040204020203" pitchFamily="34" charset="0"/>
              </a:rPr>
              <a:t>How recent are the customers</a:t>
            </a:r>
            <a:endParaRPr lang="en-IN" sz="2800" dirty="0">
              <a:solidFill>
                <a:srgbClr val="002060"/>
              </a:solidFill>
              <a:latin typeface="Bahnschrift" panose="020B0502040204020203" pitchFamily="34" charset="0"/>
            </a:endParaRPr>
          </a:p>
        </p:txBody>
      </p:sp>
    </p:spTree>
    <p:extLst>
      <p:ext uri="{BB962C8B-B14F-4D97-AF65-F5344CB8AC3E}">
        <p14:creationId xmlns:p14="http://schemas.microsoft.com/office/powerpoint/2010/main" val="232537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C8A83-3227-F0A3-517D-02E254872D4C}"/>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8C17B5E5-E2FF-A975-8781-456762B18029}"/>
              </a:ext>
            </a:extLst>
          </p:cNvPr>
          <p:cNvSpPr>
            <a:spLocks noGrp="1"/>
          </p:cNvSpPr>
          <p:nvPr>
            <p:ph type="sldNum" sz="quarter" idx="10"/>
          </p:nvPr>
        </p:nvSpPr>
        <p:spPr>
          <a:xfrm>
            <a:off x="-725371" y="6494099"/>
            <a:ext cx="1067589" cy="471489"/>
          </a:xfrm>
        </p:spPr>
        <p:txBody>
          <a:bodyPr/>
          <a:lstStyle/>
          <a:p>
            <a:fld id="{48F63A3B-78C7-47BE-AE5E-E10140E04643}" type="slidenum">
              <a:rPr lang="en-US" smtClean="0"/>
              <a:pPr/>
              <a:t>18</a:t>
            </a:fld>
            <a:endParaRPr lang="en-US" dirty="0"/>
          </a:p>
        </p:txBody>
      </p:sp>
      <p:pic>
        <p:nvPicPr>
          <p:cNvPr id="6" name="Picture 5">
            <a:extLst>
              <a:ext uri="{FF2B5EF4-FFF2-40B4-BE49-F238E27FC236}">
                <a16:creationId xmlns:a16="http://schemas.microsoft.com/office/drawing/2014/main" id="{E493620E-B2D4-67B7-CEE4-B2E8678FDA45}"/>
              </a:ext>
            </a:extLst>
          </p:cNvPr>
          <p:cNvPicPr>
            <a:picLocks noChangeAspect="1"/>
          </p:cNvPicPr>
          <p:nvPr/>
        </p:nvPicPr>
        <p:blipFill>
          <a:blip r:embed="rId3"/>
          <a:stretch>
            <a:fillRect/>
          </a:stretch>
        </p:blipFill>
        <p:spPr>
          <a:xfrm>
            <a:off x="616153" y="0"/>
            <a:ext cx="11575847" cy="6858000"/>
          </a:xfrm>
          <a:prstGeom prst="rect">
            <a:avLst/>
          </a:prstGeom>
        </p:spPr>
      </p:pic>
    </p:spTree>
    <p:extLst>
      <p:ext uri="{BB962C8B-B14F-4D97-AF65-F5344CB8AC3E}">
        <p14:creationId xmlns:p14="http://schemas.microsoft.com/office/powerpoint/2010/main" val="4010294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0EAAD-17A6-26A9-F920-535984CA3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F0EA5-1C40-F572-CE42-686A67C7E3D3}"/>
              </a:ext>
            </a:extLst>
          </p:cNvPr>
          <p:cNvSpPr>
            <a:spLocks noGrp="1"/>
          </p:cNvSpPr>
          <p:nvPr>
            <p:ph type="title"/>
          </p:nvPr>
        </p:nvSpPr>
        <p:spPr>
          <a:xfrm>
            <a:off x="3460565" y="149499"/>
            <a:ext cx="7965461" cy="994164"/>
          </a:xfrm>
        </p:spPr>
        <p:txBody>
          <a:bodyPr/>
          <a:lstStyle/>
          <a:p>
            <a:r>
              <a:rPr lang="en-US" dirty="0">
                <a:latin typeface="Bahnschrift" panose="020B0502040204020203" pitchFamily="34" charset="0"/>
              </a:rPr>
              <a:t>Order Pattern by N Customers</a:t>
            </a:r>
          </a:p>
        </p:txBody>
      </p:sp>
      <p:sp>
        <p:nvSpPr>
          <p:cNvPr id="3" name="Content Placeholder 2">
            <a:extLst>
              <a:ext uri="{FF2B5EF4-FFF2-40B4-BE49-F238E27FC236}">
                <a16:creationId xmlns:a16="http://schemas.microsoft.com/office/drawing/2014/main" id="{84879411-E7E4-9B17-5C53-583E1B686E68}"/>
              </a:ext>
            </a:extLst>
          </p:cNvPr>
          <p:cNvSpPr>
            <a:spLocks noGrp="1"/>
          </p:cNvSpPr>
          <p:nvPr>
            <p:ph sz="half" idx="2"/>
          </p:nvPr>
        </p:nvSpPr>
        <p:spPr>
          <a:xfrm>
            <a:off x="3460564" y="1752351"/>
            <a:ext cx="8426635" cy="5588534"/>
          </a:xfrm>
        </p:spPr>
        <p:txBody>
          <a:bodyPr>
            <a:normAutofit/>
          </a:bodyPr>
          <a:lstStyle/>
          <a:p>
            <a:r>
              <a:rPr lang="en-US" sz="2000" dirty="0">
                <a:solidFill>
                  <a:srgbClr val="0EC8B6"/>
                </a:solidFill>
                <a:latin typeface="Bahnschrift" panose="020B0502040204020203" pitchFamily="34" charset="0"/>
              </a:rPr>
              <a:t>The illustration aims to present the details of customers entire order history in 3 donuts, the 1st about the Deal size, Total value of the deals and no of deals.</a:t>
            </a:r>
          </a:p>
          <a:p>
            <a:r>
              <a:rPr lang="en-US" sz="2000" dirty="0">
                <a:solidFill>
                  <a:srgbClr val="0EC8B6"/>
                </a:solidFill>
                <a:latin typeface="Bahnschrift" panose="020B0502040204020203" pitchFamily="34" charset="0"/>
              </a:rPr>
              <a:t>The 2</a:t>
            </a:r>
            <a:r>
              <a:rPr lang="en-US" sz="2000" baseline="30000" dirty="0">
                <a:solidFill>
                  <a:srgbClr val="0EC8B6"/>
                </a:solidFill>
                <a:latin typeface="Bahnschrift" panose="020B0502040204020203" pitchFamily="34" charset="0"/>
              </a:rPr>
              <a:t>nd</a:t>
            </a:r>
            <a:r>
              <a:rPr lang="en-US" sz="2000" dirty="0">
                <a:solidFill>
                  <a:srgbClr val="0EC8B6"/>
                </a:solidFill>
                <a:latin typeface="Bahnschrift" panose="020B0502040204020203" pitchFamily="34" charset="0"/>
              </a:rPr>
              <a:t> Donut represents the max quantity ordered by the customer number of orders by Product Line.</a:t>
            </a:r>
          </a:p>
          <a:p>
            <a:r>
              <a:rPr lang="en-US" sz="2000" dirty="0">
                <a:solidFill>
                  <a:srgbClr val="0EC8B6"/>
                </a:solidFill>
                <a:latin typeface="Bahnschrift" panose="020B0502040204020203" pitchFamily="34" charset="0"/>
              </a:rPr>
              <a:t>The 3</a:t>
            </a:r>
            <a:r>
              <a:rPr lang="en-US" sz="2000" baseline="30000" dirty="0">
                <a:solidFill>
                  <a:srgbClr val="0EC8B6"/>
                </a:solidFill>
                <a:latin typeface="Bahnschrift" panose="020B0502040204020203" pitchFamily="34" charset="0"/>
              </a:rPr>
              <a:t>rd</a:t>
            </a:r>
            <a:r>
              <a:rPr lang="en-US" sz="2000" dirty="0">
                <a:solidFill>
                  <a:srgbClr val="0EC8B6"/>
                </a:solidFill>
                <a:latin typeface="Bahnschrift" panose="020B0502040204020203" pitchFamily="34" charset="0"/>
              </a:rPr>
              <a:t> Donut represents the status of the order and the Product Line.</a:t>
            </a:r>
          </a:p>
          <a:p>
            <a:pPr marL="0" indent="0">
              <a:buNone/>
            </a:pPr>
            <a:endParaRPr lang="en-US" sz="2000" dirty="0">
              <a:solidFill>
                <a:srgbClr val="0EC8B6"/>
              </a:solidFill>
              <a:latin typeface="Bahnschrift" panose="020B0502040204020203" pitchFamily="34" charset="0"/>
            </a:endParaRPr>
          </a:p>
          <a:p>
            <a:pPr marL="0" indent="0">
              <a:buNone/>
            </a:pPr>
            <a:r>
              <a:rPr lang="en-US" sz="2000" dirty="0">
                <a:solidFill>
                  <a:schemeClr val="accent6">
                    <a:lumMod val="60000"/>
                    <a:lumOff val="40000"/>
                  </a:schemeClr>
                </a:solidFill>
                <a:latin typeface="Bahnschrift" panose="020B0502040204020203" pitchFamily="34" charset="0"/>
              </a:rPr>
              <a:t>Business implication: Customers have made the most number of medium sized deals which is indicative of the customer’s preference as the most frequent order category was medium.</a:t>
            </a:r>
          </a:p>
          <a:p>
            <a:pPr marL="0" indent="0">
              <a:buNone/>
            </a:pPr>
            <a:r>
              <a:rPr lang="en-US" sz="2000" dirty="0">
                <a:solidFill>
                  <a:schemeClr val="accent6">
                    <a:lumMod val="60000"/>
                    <a:lumOff val="40000"/>
                  </a:schemeClr>
                </a:solidFill>
                <a:latin typeface="Bahnschrift" panose="020B0502040204020203" pitchFamily="34" charset="0"/>
              </a:rPr>
              <a:t>Product bundles can be designed to target the orders to meet the mark that not only help upsell/cross sell within the customer’s comfort.</a:t>
            </a:r>
          </a:p>
          <a:p>
            <a:pPr marL="0" indent="0">
              <a:buNone/>
            </a:pPr>
            <a:endParaRPr lang="en-US" sz="2000" dirty="0">
              <a:solidFill>
                <a:schemeClr val="accent6">
                  <a:lumMod val="60000"/>
                  <a:lumOff val="40000"/>
                </a:schemeClr>
              </a:solidFill>
              <a:latin typeface="Bahnschrift" panose="020B0502040204020203" pitchFamily="34" charset="0"/>
            </a:endParaRPr>
          </a:p>
          <a:p>
            <a:endParaRPr lang="en-US" sz="2000" dirty="0">
              <a:solidFill>
                <a:srgbClr val="0EC8B6"/>
              </a:solidFill>
              <a:latin typeface="Bahnschrift" panose="020B0502040204020203" pitchFamily="34" charset="0"/>
            </a:endParaRPr>
          </a:p>
          <a:p>
            <a:endParaRPr lang="en-US" sz="2000" dirty="0">
              <a:solidFill>
                <a:srgbClr val="0EC8B6"/>
              </a:solidFill>
              <a:latin typeface="Bahnschrift" panose="020B0502040204020203" pitchFamily="34" charset="0"/>
            </a:endParaRPr>
          </a:p>
        </p:txBody>
      </p:sp>
      <p:sp>
        <p:nvSpPr>
          <p:cNvPr id="23" name="Slide Number Placeholder 22">
            <a:extLst>
              <a:ext uri="{FF2B5EF4-FFF2-40B4-BE49-F238E27FC236}">
                <a16:creationId xmlns:a16="http://schemas.microsoft.com/office/drawing/2014/main" id="{1BFD1DB9-8992-94B2-63F9-FAA8A3437DD8}"/>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1080851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056E-305E-F74E-4D8E-E007FB511A52}"/>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ECD0DA03-F31B-4678-793E-31112E3DE595}"/>
              </a:ext>
            </a:extLst>
          </p:cNvPr>
          <p:cNvSpPr>
            <a:spLocks noGrp="1"/>
          </p:cNvSpPr>
          <p:nvPr>
            <p:ph type="sldNum" sz="quarter" idx="10"/>
          </p:nvPr>
        </p:nvSpPr>
        <p:spPr>
          <a:xfrm>
            <a:off x="-735203" y="6494099"/>
            <a:ext cx="1067589" cy="471489"/>
          </a:xfrm>
        </p:spPr>
        <p:txBody>
          <a:bodyPr/>
          <a:lstStyle/>
          <a:p>
            <a:fld id="{48F63A3B-78C7-47BE-AE5E-E10140E04643}" type="slidenum">
              <a:rPr lang="en-US" smtClean="0"/>
              <a:pPr/>
              <a:t>20</a:t>
            </a:fld>
            <a:endParaRPr lang="en-US" dirty="0"/>
          </a:p>
        </p:txBody>
      </p:sp>
      <p:pic>
        <p:nvPicPr>
          <p:cNvPr id="12" name="Picture 11">
            <a:extLst>
              <a:ext uri="{FF2B5EF4-FFF2-40B4-BE49-F238E27FC236}">
                <a16:creationId xmlns:a16="http://schemas.microsoft.com/office/drawing/2014/main" id="{F74AD63B-B03C-7887-7069-C7D82A6615BE}"/>
              </a:ext>
            </a:extLst>
          </p:cNvPr>
          <p:cNvPicPr>
            <a:picLocks noChangeAspect="1"/>
          </p:cNvPicPr>
          <p:nvPr/>
        </p:nvPicPr>
        <p:blipFill>
          <a:blip r:embed="rId3"/>
          <a:stretch>
            <a:fillRect/>
          </a:stretch>
        </p:blipFill>
        <p:spPr>
          <a:xfrm>
            <a:off x="1646353" y="0"/>
            <a:ext cx="10545647" cy="6839905"/>
          </a:xfrm>
          <a:prstGeom prst="rect">
            <a:avLst/>
          </a:prstGeom>
        </p:spPr>
      </p:pic>
    </p:spTree>
    <p:extLst>
      <p:ext uri="{BB962C8B-B14F-4D97-AF65-F5344CB8AC3E}">
        <p14:creationId xmlns:p14="http://schemas.microsoft.com/office/powerpoint/2010/main" val="753352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559D8-A982-2900-871B-6042B6F23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0ACA8-C465-8F1E-B11B-712795956859}"/>
              </a:ext>
            </a:extLst>
          </p:cNvPr>
          <p:cNvSpPr>
            <a:spLocks noGrp="1"/>
          </p:cNvSpPr>
          <p:nvPr>
            <p:ph type="title"/>
          </p:nvPr>
        </p:nvSpPr>
        <p:spPr>
          <a:xfrm>
            <a:off x="3460565" y="149499"/>
            <a:ext cx="7965461" cy="994164"/>
          </a:xfrm>
        </p:spPr>
        <p:txBody>
          <a:bodyPr/>
          <a:lstStyle/>
          <a:p>
            <a:r>
              <a:rPr lang="en-US" dirty="0">
                <a:latin typeface="Bahnschrift" panose="020B0502040204020203" pitchFamily="34" charset="0"/>
              </a:rPr>
              <a:t>Countries with order disputes</a:t>
            </a:r>
          </a:p>
        </p:txBody>
      </p:sp>
      <p:sp>
        <p:nvSpPr>
          <p:cNvPr id="3" name="Content Placeholder 2">
            <a:extLst>
              <a:ext uri="{FF2B5EF4-FFF2-40B4-BE49-F238E27FC236}">
                <a16:creationId xmlns:a16="http://schemas.microsoft.com/office/drawing/2014/main" id="{8DCD7CB3-3F50-01D4-E04A-8EE17591B800}"/>
              </a:ext>
            </a:extLst>
          </p:cNvPr>
          <p:cNvSpPr>
            <a:spLocks noGrp="1"/>
          </p:cNvSpPr>
          <p:nvPr>
            <p:ph sz="half" idx="2"/>
          </p:nvPr>
        </p:nvSpPr>
        <p:spPr>
          <a:xfrm>
            <a:off x="2870629" y="1687337"/>
            <a:ext cx="8426635" cy="5588534"/>
          </a:xfrm>
        </p:spPr>
        <p:txBody>
          <a:bodyPr>
            <a:normAutofit/>
          </a:bodyPr>
          <a:lstStyle/>
          <a:p>
            <a:r>
              <a:rPr lang="en-US" sz="2000" dirty="0">
                <a:solidFill>
                  <a:srgbClr val="0EC8B6"/>
                </a:solidFill>
                <a:latin typeface="Bahnschrift" panose="020B0502040204020203" pitchFamily="34" charset="0"/>
              </a:rPr>
              <a:t>The illustration aims to highlight the </a:t>
            </a:r>
            <a:r>
              <a:rPr lang="en-US" sz="2000" u="sng" dirty="0">
                <a:solidFill>
                  <a:srgbClr val="0EC8B6"/>
                </a:solidFill>
                <a:latin typeface="Bahnschrift" panose="020B0502040204020203" pitchFamily="34" charset="0"/>
              </a:rPr>
              <a:t>Countries </a:t>
            </a:r>
            <a:r>
              <a:rPr lang="en-US" sz="2000" dirty="0">
                <a:solidFill>
                  <a:srgbClr val="0EC8B6"/>
                </a:solidFill>
                <a:latin typeface="Bahnschrift" panose="020B0502040204020203" pitchFamily="34" charset="0"/>
              </a:rPr>
              <a:t>with the highest number of orders which were either put </a:t>
            </a:r>
            <a:r>
              <a:rPr lang="en-US" sz="2000" u="sng" dirty="0">
                <a:solidFill>
                  <a:srgbClr val="0EC8B6"/>
                </a:solidFill>
                <a:latin typeface="Bahnschrift" panose="020B0502040204020203" pitchFamily="34" charset="0"/>
              </a:rPr>
              <a:t>on hold </a:t>
            </a:r>
            <a:r>
              <a:rPr lang="en-US" sz="2000" dirty="0">
                <a:solidFill>
                  <a:srgbClr val="0EC8B6"/>
                </a:solidFill>
                <a:latin typeface="Bahnschrift" panose="020B0502040204020203" pitchFamily="34" charset="0"/>
              </a:rPr>
              <a:t>or </a:t>
            </a:r>
            <a:r>
              <a:rPr lang="en-US" sz="2000" u="sng" dirty="0">
                <a:solidFill>
                  <a:srgbClr val="0EC8B6"/>
                </a:solidFill>
                <a:latin typeface="Bahnschrift" panose="020B0502040204020203" pitchFamily="34" charset="0"/>
              </a:rPr>
              <a:t>cancelled</a:t>
            </a:r>
            <a:r>
              <a:rPr lang="en-US" sz="2000" dirty="0">
                <a:solidFill>
                  <a:srgbClr val="0EC8B6"/>
                </a:solidFill>
                <a:latin typeface="Bahnschrift" panose="020B0502040204020203" pitchFamily="34" charset="0"/>
              </a:rPr>
              <a:t> or are </a:t>
            </a:r>
            <a:r>
              <a:rPr lang="en-US" sz="2000" u="sng" dirty="0">
                <a:solidFill>
                  <a:srgbClr val="0EC8B6"/>
                </a:solidFill>
                <a:latin typeface="Bahnschrift" panose="020B0502040204020203" pitchFamily="34" charset="0"/>
              </a:rPr>
              <a:t>Disputed</a:t>
            </a:r>
            <a:r>
              <a:rPr lang="en-US" sz="2000" dirty="0">
                <a:solidFill>
                  <a:srgbClr val="0EC8B6"/>
                </a:solidFill>
                <a:latin typeface="Bahnschrift" panose="020B0502040204020203" pitchFamily="34" charset="0"/>
              </a:rPr>
              <a:t>.</a:t>
            </a:r>
          </a:p>
          <a:p>
            <a:r>
              <a:rPr lang="en-US" sz="2000" dirty="0">
                <a:solidFill>
                  <a:srgbClr val="0EC8B6"/>
                </a:solidFill>
                <a:latin typeface="Bahnschrift" panose="020B0502040204020203" pitchFamily="34" charset="0"/>
              </a:rPr>
              <a:t>The </a:t>
            </a:r>
            <a:r>
              <a:rPr lang="en-US" sz="2000" u="sng" dirty="0">
                <a:solidFill>
                  <a:srgbClr val="0EC8B6"/>
                </a:solidFill>
                <a:latin typeface="Bahnschrift" panose="020B0502040204020203" pitchFamily="34" charset="0"/>
              </a:rPr>
              <a:t>highest </a:t>
            </a:r>
            <a:r>
              <a:rPr lang="en-US" sz="2000" dirty="0">
                <a:solidFill>
                  <a:srgbClr val="0EC8B6"/>
                </a:solidFill>
                <a:latin typeface="Bahnschrift" panose="020B0502040204020203" pitchFamily="34" charset="0"/>
              </a:rPr>
              <a:t>no of orders was in </a:t>
            </a:r>
            <a:r>
              <a:rPr lang="en-US" sz="2000" u="sng" dirty="0">
                <a:solidFill>
                  <a:srgbClr val="0EC8B6"/>
                </a:solidFill>
                <a:latin typeface="Bahnschrift" panose="020B0502040204020203" pitchFamily="34" charset="0"/>
              </a:rPr>
              <a:t>UK followed by USA </a:t>
            </a:r>
            <a:r>
              <a:rPr lang="en-US" sz="2000" dirty="0">
                <a:solidFill>
                  <a:srgbClr val="0EC8B6"/>
                </a:solidFill>
                <a:latin typeface="Bahnschrift" panose="020B0502040204020203" pitchFamily="34" charset="0"/>
              </a:rPr>
              <a:t>with a big chunk kept </a:t>
            </a:r>
            <a:r>
              <a:rPr lang="en-US" sz="2000" u="sng" dirty="0">
                <a:solidFill>
                  <a:srgbClr val="0EC8B6"/>
                </a:solidFill>
                <a:latin typeface="Bahnschrift" panose="020B0502040204020203" pitchFamily="34" charset="0"/>
              </a:rPr>
              <a:t>on hold.</a:t>
            </a:r>
          </a:p>
          <a:p>
            <a:r>
              <a:rPr lang="en-US" sz="2000" dirty="0">
                <a:solidFill>
                  <a:srgbClr val="0EC8B6"/>
                </a:solidFill>
                <a:latin typeface="Bahnschrift" panose="020B0502040204020203" pitchFamily="34" charset="0"/>
              </a:rPr>
              <a:t>The objective of this illustration is to find out the reason for the cancellation and address the issue.</a:t>
            </a:r>
          </a:p>
          <a:p>
            <a:r>
              <a:rPr lang="en-US" sz="2000" dirty="0">
                <a:solidFill>
                  <a:srgbClr val="0EC8B6"/>
                </a:solidFill>
                <a:latin typeface="Bahnschrift" panose="020B0502040204020203" pitchFamily="34" charset="0"/>
              </a:rPr>
              <a:t>In the illustration a product line called </a:t>
            </a:r>
            <a:r>
              <a:rPr lang="en-US" sz="2000" u="sng" dirty="0">
                <a:solidFill>
                  <a:srgbClr val="0EC8B6"/>
                </a:solidFill>
                <a:latin typeface="Bahnschrift" panose="020B0502040204020203" pitchFamily="34" charset="0"/>
              </a:rPr>
              <a:t>‘Classic Cars’ was chosen</a:t>
            </a:r>
            <a:r>
              <a:rPr lang="en-US" sz="2000" dirty="0">
                <a:solidFill>
                  <a:srgbClr val="0EC8B6"/>
                </a:solidFill>
                <a:latin typeface="Bahnschrift" panose="020B0502040204020203" pitchFamily="34" charset="0"/>
              </a:rPr>
              <a:t>.</a:t>
            </a:r>
          </a:p>
          <a:p>
            <a:r>
              <a:rPr lang="en-US" sz="2000" dirty="0">
                <a:solidFill>
                  <a:srgbClr val="0EC8B6"/>
                </a:solidFill>
                <a:latin typeface="Bahnschrift" panose="020B0502040204020203" pitchFamily="34" charset="0"/>
              </a:rPr>
              <a:t>The illustration reflects an overall </a:t>
            </a:r>
            <a:r>
              <a:rPr lang="en-US" sz="2000" u="sng" dirty="0">
                <a:solidFill>
                  <a:srgbClr val="0EC8B6"/>
                </a:solidFill>
                <a:latin typeface="Bahnschrift" panose="020B0502040204020203" pitchFamily="34" charset="0"/>
              </a:rPr>
              <a:t>cancellation ratio to be at 60/2747</a:t>
            </a:r>
            <a:r>
              <a:rPr lang="en-US" sz="2000" dirty="0">
                <a:solidFill>
                  <a:srgbClr val="0EC8B6"/>
                </a:solidFill>
                <a:latin typeface="Bahnschrift" panose="020B0502040204020203" pitchFamily="34" charset="0"/>
              </a:rPr>
              <a:t>, </a:t>
            </a:r>
            <a:r>
              <a:rPr lang="en-US" sz="2000" u="sng" dirty="0">
                <a:solidFill>
                  <a:srgbClr val="0EC8B6"/>
                </a:solidFill>
                <a:latin typeface="Bahnschrift" panose="020B0502040204020203" pitchFamily="34" charset="0"/>
              </a:rPr>
              <a:t>On-Hold 44/2747 </a:t>
            </a:r>
            <a:r>
              <a:rPr lang="en-US" sz="2000" dirty="0">
                <a:solidFill>
                  <a:srgbClr val="0EC8B6"/>
                </a:solidFill>
                <a:latin typeface="Bahnschrift" panose="020B0502040204020203" pitchFamily="34" charset="0"/>
              </a:rPr>
              <a:t>and </a:t>
            </a:r>
            <a:r>
              <a:rPr lang="en-US" sz="2000" u="sng" dirty="0">
                <a:solidFill>
                  <a:srgbClr val="0EC8B6"/>
                </a:solidFill>
                <a:latin typeface="Bahnschrift" panose="020B0502040204020203" pitchFamily="34" charset="0"/>
              </a:rPr>
              <a:t>14/2747 to be Disputed</a:t>
            </a:r>
          </a:p>
          <a:p>
            <a:pPr marL="0" indent="0">
              <a:buNone/>
            </a:pPr>
            <a:endParaRPr lang="en-US" sz="2000" dirty="0">
              <a:solidFill>
                <a:srgbClr val="0EC8B6"/>
              </a:solidFill>
              <a:latin typeface="Bahnschrift" panose="020B0502040204020203" pitchFamily="34" charset="0"/>
            </a:endParaRPr>
          </a:p>
        </p:txBody>
      </p:sp>
      <p:sp>
        <p:nvSpPr>
          <p:cNvPr id="23" name="Slide Number Placeholder 22">
            <a:extLst>
              <a:ext uri="{FF2B5EF4-FFF2-40B4-BE49-F238E27FC236}">
                <a16:creationId xmlns:a16="http://schemas.microsoft.com/office/drawing/2014/main" id="{8BE637F1-14D7-CA7B-CB5B-47FDCFF12DE9}"/>
              </a:ext>
            </a:extLst>
          </p:cNvPr>
          <p:cNvSpPr>
            <a:spLocks noGrp="1"/>
          </p:cNvSpPr>
          <p:nvPr>
            <p:ph type="sldNum" sz="quarter" idx="10"/>
          </p:nvPr>
        </p:nvSpPr>
        <p:spPr>
          <a:xfrm>
            <a:off x="-762788" y="6411091"/>
            <a:ext cx="1067589" cy="471489"/>
          </a:xfrm>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1503064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96064-E153-3112-69C6-4EE4C86C9994}"/>
            </a:ext>
          </a:extLst>
        </p:cNvPr>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CE3F3394-F063-4937-7193-8DD1E7AE4A4A}"/>
              </a:ext>
            </a:extLst>
          </p:cNvPr>
          <p:cNvSpPr>
            <a:spLocks noGrp="1"/>
          </p:cNvSpPr>
          <p:nvPr>
            <p:ph type="sldNum" sz="quarter" idx="10"/>
          </p:nvPr>
        </p:nvSpPr>
        <p:spPr>
          <a:xfrm>
            <a:off x="-712685" y="6411091"/>
            <a:ext cx="1067589" cy="471489"/>
          </a:xfrm>
        </p:spPr>
        <p:txBody>
          <a:bodyPr/>
          <a:lstStyle/>
          <a:p>
            <a:fld id="{48F63A3B-78C7-47BE-AE5E-E10140E04643}" type="slidenum">
              <a:rPr lang="en-US" smtClean="0"/>
              <a:pPr/>
              <a:t>22</a:t>
            </a:fld>
            <a:endParaRPr lang="en-US" dirty="0"/>
          </a:p>
        </p:txBody>
      </p:sp>
      <p:sp>
        <p:nvSpPr>
          <p:cNvPr id="8" name="TextBox 7">
            <a:extLst>
              <a:ext uri="{FF2B5EF4-FFF2-40B4-BE49-F238E27FC236}">
                <a16:creationId xmlns:a16="http://schemas.microsoft.com/office/drawing/2014/main" id="{59E5CD29-5C24-0847-A5C1-2FE66DAEFEE1}"/>
              </a:ext>
            </a:extLst>
          </p:cNvPr>
          <p:cNvSpPr txBox="1"/>
          <p:nvPr/>
        </p:nvSpPr>
        <p:spPr>
          <a:xfrm>
            <a:off x="2674374" y="845574"/>
            <a:ext cx="9615949" cy="7755969"/>
          </a:xfrm>
          <a:prstGeom prst="rect">
            <a:avLst/>
          </a:prstGeom>
          <a:noFill/>
        </p:spPr>
        <p:txBody>
          <a:bodyPr wrap="square" rtlCol="0">
            <a:spAutoFit/>
          </a:bodyPr>
          <a:lstStyle/>
          <a:p>
            <a:pPr>
              <a:buNone/>
            </a:pPr>
            <a:r>
              <a:rPr lang="en-US" sz="1600" dirty="0">
                <a:solidFill>
                  <a:srgbClr val="0EC8B6"/>
                </a:solidFill>
                <a:latin typeface="Bahnschrift" panose="020B0502040204020203" pitchFamily="34" charset="0"/>
              </a:rPr>
              <a:t>In a B2B context, RFM segmentation enables the enterprise to tailor the marketing, sales and support strategies to the unique needs of each partner:</a:t>
            </a:r>
          </a:p>
          <a:p>
            <a:pPr>
              <a:buNone/>
            </a:pPr>
            <a:endParaRPr lang="en-US" sz="1600" dirty="0">
              <a:solidFill>
                <a:srgbClr val="0EC8B6"/>
              </a:solidFill>
              <a:latin typeface="Bahnschrift" panose="020B0502040204020203" pitchFamily="34" charset="0"/>
            </a:endParaRPr>
          </a:p>
          <a:p>
            <a:pPr>
              <a:buFont typeface="Arial" panose="020B0604020202020204" pitchFamily="34" charset="0"/>
              <a:buChar char="•"/>
            </a:pPr>
            <a:r>
              <a:rPr lang="en-US" sz="1600" b="1" dirty="0">
                <a:solidFill>
                  <a:srgbClr val="0EC8B6"/>
                </a:solidFill>
                <a:latin typeface="Bahnschrift" panose="020B0502040204020203" pitchFamily="34" charset="0"/>
              </a:rPr>
              <a:t>Recency</a:t>
            </a:r>
            <a:r>
              <a:rPr lang="en-US" sz="1600" dirty="0">
                <a:solidFill>
                  <a:srgbClr val="0EC8B6"/>
                </a:solidFill>
                <a:latin typeface="Bahnschrift" panose="020B0502040204020203" pitchFamily="34" charset="0"/>
              </a:rPr>
              <a:t> highlights accounts </a:t>
            </a:r>
            <a:r>
              <a:rPr lang="en-US" sz="1600" b="1" dirty="0">
                <a:solidFill>
                  <a:srgbClr val="0EC8B6"/>
                </a:solidFill>
                <a:latin typeface="Bahnschrift" panose="020B0502040204020203" pitchFamily="34" charset="0"/>
              </a:rPr>
              <a:t>most likely to re-order</a:t>
            </a:r>
            <a:r>
              <a:rPr lang="en-US" sz="1600" dirty="0">
                <a:solidFill>
                  <a:srgbClr val="0EC8B6"/>
                </a:solidFill>
                <a:latin typeface="Bahnschrift" panose="020B0502040204020203" pitchFamily="34" charset="0"/>
              </a:rPr>
              <a:t>, allowing you to prioritize outreach and anticipate demand.</a:t>
            </a:r>
          </a:p>
          <a:p>
            <a:pPr>
              <a:buFont typeface="Arial" panose="020B0604020202020204" pitchFamily="34" charset="0"/>
              <a:buChar char="•"/>
            </a:pPr>
            <a:r>
              <a:rPr lang="en-US" sz="1600" b="1" dirty="0">
                <a:solidFill>
                  <a:srgbClr val="0EC8B6"/>
                </a:solidFill>
                <a:latin typeface="Bahnschrift" panose="020B0502040204020203" pitchFamily="34" charset="0"/>
              </a:rPr>
              <a:t>Frequency</a:t>
            </a:r>
            <a:r>
              <a:rPr lang="en-US" sz="1600" dirty="0">
                <a:solidFill>
                  <a:srgbClr val="0EC8B6"/>
                </a:solidFill>
                <a:latin typeface="Bahnschrift" panose="020B0502040204020203" pitchFamily="34" charset="0"/>
              </a:rPr>
              <a:t> reflects the </a:t>
            </a:r>
            <a:r>
              <a:rPr lang="en-US" sz="1600" b="1" dirty="0">
                <a:solidFill>
                  <a:srgbClr val="0EC8B6"/>
                </a:solidFill>
                <a:latin typeface="Bahnschrift" panose="020B0502040204020203" pitchFamily="34" charset="0"/>
              </a:rPr>
              <a:t>strength of the ongoing relationship</a:t>
            </a:r>
            <a:r>
              <a:rPr lang="en-US" sz="1600" dirty="0">
                <a:solidFill>
                  <a:srgbClr val="0EC8B6"/>
                </a:solidFill>
                <a:latin typeface="Bahnschrift" panose="020B0502040204020203" pitchFamily="34" charset="0"/>
              </a:rPr>
              <a:t>, serving as a proxy for customer trust and satisfaction.</a:t>
            </a:r>
          </a:p>
          <a:p>
            <a:pPr>
              <a:buFont typeface="Arial" panose="020B0604020202020204" pitchFamily="34" charset="0"/>
              <a:buChar char="•"/>
            </a:pPr>
            <a:r>
              <a:rPr lang="en-US" sz="1600" dirty="0">
                <a:solidFill>
                  <a:srgbClr val="0EC8B6"/>
                </a:solidFill>
                <a:latin typeface="Bahnschrift" panose="020B0502040204020203" pitchFamily="34" charset="0"/>
              </a:rPr>
              <a:t>Monetary quantifies the </a:t>
            </a:r>
            <a:r>
              <a:rPr lang="en-US" sz="1600" b="1" dirty="0">
                <a:solidFill>
                  <a:srgbClr val="0EC8B6"/>
                </a:solidFill>
                <a:latin typeface="Bahnschrift" panose="020B0502040204020203" pitchFamily="34" charset="0"/>
              </a:rPr>
              <a:t>financial impact </a:t>
            </a:r>
            <a:r>
              <a:rPr lang="en-US" sz="1600" dirty="0">
                <a:solidFill>
                  <a:srgbClr val="0EC8B6"/>
                </a:solidFill>
                <a:latin typeface="Bahnschrift" panose="020B0502040204020203" pitchFamily="34" charset="0"/>
              </a:rPr>
              <a:t>of each account, ensuring that your highest-value customers receive appropriate attention and resources.</a:t>
            </a:r>
          </a:p>
          <a:p>
            <a:pPr>
              <a:buFont typeface="Arial" panose="020B0604020202020204" pitchFamily="34" charset="0"/>
              <a:buChar char="•"/>
            </a:pPr>
            <a:endParaRPr lang="en-US" sz="1600" dirty="0">
              <a:solidFill>
                <a:srgbClr val="0EC8B6"/>
              </a:solidFill>
              <a:latin typeface="Bahnschrift" panose="020B0502040204020203" pitchFamily="34" charset="0"/>
            </a:endParaRPr>
          </a:p>
          <a:p>
            <a:r>
              <a:rPr lang="en-US" sz="1600" dirty="0">
                <a:solidFill>
                  <a:srgbClr val="0EC8B6"/>
                </a:solidFill>
                <a:latin typeface="Bahnschrift" panose="020B0502040204020203" pitchFamily="34" charset="0"/>
              </a:rPr>
              <a:t>Today’s B2B enterprises must balance cost efficiency, prompt delivery, robust post-purchase support and flexible payment terms—such as credit lines or cash-discount incentives—to maintain long-term partnerships. RFM analysis </a:t>
            </a:r>
            <a:r>
              <a:rPr lang="en-US" sz="1600" b="1" dirty="0">
                <a:solidFill>
                  <a:srgbClr val="0EC8B6"/>
                </a:solidFill>
                <a:latin typeface="Bahnschrift" panose="020B0502040204020203" pitchFamily="34" charset="0"/>
              </a:rPr>
              <a:t>empowers enterprises </a:t>
            </a:r>
            <a:r>
              <a:rPr lang="en-US" sz="1600" dirty="0">
                <a:solidFill>
                  <a:srgbClr val="0EC8B6"/>
                </a:solidFill>
                <a:latin typeface="Bahnschrift" panose="020B0502040204020203" pitchFamily="34" charset="0"/>
              </a:rPr>
              <a:t>to identify which </a:t>
            </a:r>
            <a:r>
              <a:rPr lang="en-US" sz="1600" b="1" dirty="0">
                <a:solidFill>
                  <a:srgbClr val="0EC8B6"/>
                </a:solidFill>
                <a:latin typeface="Bahnschrift" panose="020B0502040204020203" pitchFamily="34" charset="0"/>
              </a:rPr>
              <a:t>customers merit premium service </a:t>
            </a:r>
            <a:r>
              <a:rPr lang="en-US" sz="1600" dirty="0">
                <a:solidFill>
                  <a:srgbClr val="0EC8B6"/>
                </a:solidFill>
                <a:latin typeface="Bahnschrift" panose="020B0502040204020203" pitchFamily="34" charset="0"/>
              </a:rPr>
              <a:t>levels, which require </a:t>
            </a:r>
            <a:r>
              <a:rPr lang="en-US" sz="1600" b="1" dirty="0">
                <a:solidFill>
                  <a:srgbClr val="0EC8B6"/>
                </a:solidFill>
                <a:latin typeface="Bahnschrift" panose="020B0502040204020203" pitchFamily="34" charset="0"/>
              </a:rPr>
              <a:t>re-engagement campaigns </a:t>
            </a:r>
            <a:r>
              <a:rPr lang="en-US" sz="1600" dirty="0">
                <a:solidFill>
                  <a:srgbClr val="0EC8B6"/>
                </a:solidFill>
                <a:latin typeface="Bahnschrift" panose="020B0502040204020203" pitchFamily="34" charset="0"/>
              </a:rPr>
              <a:t>and which present the enterprises cross- or up-sell opportunities. By aligning your </a:t>
            </a:r>
            <a:r>
              <a:rPr lang="en-US" sz="1600" b="1" dirty="0">
                <a:solidFill>
                  <a:srgbClr val="0EC8B6"/>
                </a:solidFill>
                <a:latin typeface="Bahnschrift" panose="020B0502040204020203" pitchFamily="34" charset="0"/>
              </a:rPr>
              <a:t>operational </a:t>
            </a:r>
            <a:r>
              <a:rPr lang="en-US" sz="1600" dirty="0">
                <a:solidFill>
                  <a:srgbClr val="0EC8B6"/>
                </a:solidFill>
                <a:latin typeface="Bahnschrift" panose="020B0502040204020203" pitchFamily="34" charset="0"/>
              </a:rPr>
              <a:t>and </a:t>
            </a:r>
            <a:r>
              <a:rPr lang="en-US" sz="1600" b="1" dirty="0">
                <a:solidFill>
                  <a:srgbClr val="0EC8B6"/>
                </a:solidFill>
                <a:latin typeface="Bahnschrift" panose="020B0502040204020203" pitchFamily="34" charset="0"/>
              </a:rPr>
              <a:t>marketing efforts </a:t>
            </a:r>
            <a:r>
              <a:rPr lang="en-US" sz="1600" dirty="0">
                <a:solidFill>
                  <a:srgbClr val="0EC8B6"/>
                </a:solidFill>
                <a:latin typeface="Bahnschrift" panose="020B0502040204020203" pitchFamily="34" charset="0"/>
              </a:rPr>
              <a:t>with </a:t>
            </a:r>
            <a:r>
              <a:rPr lang="en-US" sz="1600" b="1" dirty="0">
                <a:solidFill>
                  <a:srgbClr val="0EC8B6"/>
                </a:solidFill>
                <a:latin typeface="Bahnschrift" panose="020B0502040204020203" pitchFamily="34" charset="0"/>
              </a:rPr>
              <a:t>each segment’s behavior </a:t>
            </a:r>
            <a:r>
              <a:rPr lang="en-US" sz="1600" dirty="0">
                <a:solidFill>
                  <a:srgbClr val="0EC8B6"/>
                </a:solidFill>
                <a:latin typeface="Bahnschrift" panose="020B0502040204020203" pitchFamily="34" charset="0"/>
              </a:rPr>
              <a:t>and value, enterprises can both </a:t>
            </a:r>
            <a:r>
              <a:rPr lang="en-US" sz="1600" b="1" dirty="0">
                <a:solidFill>
                  <a:srgbClr val="0EC8B6"/>
                </a:solidFill>
                <a:latin typeface="Bahnschrift" panose="020B0502040204020203" pitchFamily="34" charset="0"/>
              </a:rPr>
              <a:t>strengthen customer loyalty </a:t>
            </a:r>
            <a:r>
              <a:rPr lang="en-US" sz="1600" dirty="0">
                <a:solidFill>
                  <a:srgbClr val="0EC8B6"/>
                </a:solidFill>
                <a:latin typeface="Bahnschrift" panose="020B0502040204020203" pitchFamily="34" charset="0"/>
              </a:rPr>
              <a:t>and </a:t>
            </a:r>
            <a:r>
              <a:rPr lang="en-US" sz="1600" b="1" dirty="0">
                <a:solidFill>
                  <a:srgbClr val="0EC8B6"/>
                </a:solidFill>
                <a:latin typeface="Bahnschrift" panose="020B0502040204020203" pitchFamily="34" charset="0"/>
              </a:rPr>
              <a:t>optimize profitability </a:t>
            </a:r>
            <a:r>
              <a:rPr lang="en-US" sz="1600" dirty="0">
                <a:solidFill>
                  <a:srgbClr val="0EC8B6"/>
                </a:solidFill>
                <a:latin typeface="Bahnschrift" panose="020B0502040204020203" pitchFamily="34" charset="0"/>
              </a:rPr>
              <a:t>which </a:t>
            </a:r>
            <a:r>
              <a:rPr lang="en-IN" sz="1600" dirty="0">
                <a:solidFill>
                  <a:srgbClr val="0EC8B6"/>
                </a:solidFill>
                <a:latin typeface="Bahnschrift" panose="020B0502040204020203" pitchFamily="34" charset="0"/>
              </a:rPr>
              <a:t>in the B2B landscape keep the customers </a:t>
            </a:r>
            <a:r>
              <a:rPr lang="en-IN" sz="1600" b="1" dirty="0">
                <a:solidFill>
                  <a:srgbClr val="0EC8B6"/>
                </a:solidFill>
                <a:latin typeface="Bahnschrift" panose="020B0502040204020203" pitchFamily="34" charset="0"/>
              </a:rPr>
              <a:t>hooked</a:t>
            </a:r>
            <a:r>
              <a:rPr lang="en-IN" sz="1600" dirty="0">
                <a:solidFill>
                  <a:srgbClr val="0EC8B6"/>
                </a:solidFill>
                <a:latin typeface="Bahnschrift" panose="020B0502040204020203" pitchFamily="34" charset="0"/>
              </a:rPr>
              <a:t> as </a:t>
            </a:r>
            <a:r>
              <a:rPr lang="en-IN" sz="1600" b="1" dirty="0">
                <a:solidFill>
                  <a:srgbClr val="0EC8B6"/>
                </a:solidFill>
                <a:latin typeface="Bahnschrift" panose="020B0502040204020203" pitchFamily="34" charset="0"/>
              </a:rPr>
              <a:t>sustenance</a:t>
            </a:r>
            <a:r>
              <a:rPr lang="en-IN" sz="1600" dirty="0">
                <a:solidFill>
                  <a:srgbClr val="0EC8B6"/>
                </a:solidFill>
                <a:latin typeface="Bahnschrift" panose="020B0502040204020203" pitchFamily="34" charset="0"/>
              </a:rPr>
              <a:t> is as </a:t>
            </a:r>
            <a:r>
              <a:rPr lang="en-IN" sz="1600" b="1" dirty="0">
                <a:solidFill>
                  <a:srgbClr val="0EC8B6"/>
                </a:solidFill>
                <a:latin typeface="Bahnschrift" panose="020B0502040204020203" pitchFamily="34" charset="0"/>
              </a:rPr>
              <a:t>crucial</a:t>
            </a:r>
            <a:r>
              <a:rPr lang="en-IN" sz="1600" dirty="0">
                <a:solidFill>
                  <a:srgbClr val="0EC8B6"/>
                </a:solidFill>
                <a:latin typeface="Bahnschrift" panose="020B0502040204020203" pitchFamily="34" charset="0"/>
              </a:rPr>
              <a:t> as is profit in the 21</a:t>
            </a:r>
            <a:r>
              <a:rPr lang="en-IN" sz="1600" baseline="30000" dirty="0">
                <a:solidFill>
                  <a:srgbClr val="0EC8B6"/>
                </a:solidFill>
                <a:latin typeface="Bahnschrift" panose="020B0502040204020203" pitchFamily="34" charset="0"/>
              </a:rPr>
              <a:t>st</a:t>
            </a:r>
            <a:r>
              <a:rPr lang="en-IN" sz="1600" dirty="0">
                <a:solidFill>
                  <a:srgbClr val="0EC8B6"/>
                </a:solidFill>
                <a:latin typeface="Bahnschrift" panose="020B0502040204020203" pitchFamily="34" charset="0"/>
              </a:rPr>
              <a:t> century Business world.</a:t>
            </a:r>
            <a:br>
              <a:rPr lang="en-IN" sz="1600" dirty="0">
                <a:solidFill>
                  <a:srgbClr val="0EC8B6"/>
                </a:solidFill>
                <a:latin typeface="Bahnschrift" panose="020B0502040204020203" pitchFamily="34" charset="0"/>
              </a:rPr>
            </a:br>
            <a:br>
              <a:rPr lang="en-IN" sz="1600" dirty="0">
                <a:solidFill>
                  <a:srgbClr val="0EC8B6"/>
                </a:solidFill>
                <a:latin typeface="Bahnschrift" panose="020B0502040204020203" pitchFamily="34" charset="0"/>
              </a:rPr>
            </a:br>
            <a:r>
              <a:rPr lang="en-IN" sz="1600" dirty="0">
                <a:solidFill>
                  <a:srgbClr val="0EC8B6"/>
                </a:solidFill>
                <a:latin typeface="Bahnschrift" panose="020B0502040204020203" pitchFamily="34" charset="0"/>
              </a:rPr>
              <a:t>Thus to </a:t>
            </a:r>
            <a:r>
              <a:rPr lang="en-IN" sz="1600" b="1" dirty="0">
                <a:solidFill>
                  <a:srgbClr val="0EC8B6"/>
                </a:solidFill>
                <a:latin typeface="Bahnschrift" panose="020B0502040204020203" pitchFamily="34" charset="0"/>
              </a:rPr>
              <a:t>segment, understand and provide the partner </a:t>
            </a:r>
            <a:r>
              <a:rPr lang="en-IN" sz="1600" dirty="0">
                <a:solidFill>
                  <a:srgbClr val="0EC8B6"/>
                </a:solidFill>
                <a:latin typeface="Bahnschrift" panose="020B0502040204020203" pitchFamily="34" charset="0"/>
              </a:rPr>
              <a:t>what it wants and </a:t>
            </a:r>
            <a:r>
              <a:rPr lang="en-IN" sz="1600" b="1" dirty="0">
                <a:solidFill>
                  <a:srgbClr val="0EC8B6"/>
                </a:solidFill>
                <a:latin typeface="Bahnschrift" panose="020B0502040204020203" pitchFamily="34" charset="0"/>
              </a:rPr>
              <a:t>needs</a:t>
            </a:r>
            <a:r>
              <a:rPr lang="en-IN" sz="1600" dirty="0">
                <a:solidFill>
                  <a:srgbClr val="0EC8B6"/>
                </a:solidFill>
                <a:latin typeface="Bahnschrift" panose="020B0502040204020203" pitchFamily="34" charset="0"/>
              </a:rPr>
              <a:t> is why this analysis is so </a:t>
            </a:r>
            <a:r>
              <a:rPr lang="en-IN" sz="1600" b="1" dirty="0">
                <a:solidFill>
                  <a:srgbClr val="0EC8B6"/>
                </a:solidFill>
                <a:latin typeface="Bahnschrift" panose="020B0502040204020203" pitchFamily="34" charset="0"/>
              </a:rPr>
              <a:t>relevant.</a:t>
            </a: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IN" sz="1600" dirty="0">
              <a:solidFill>
                <a:srgbClr val="0EC8B6"/>
              </a:solidFill>
              <a:latin typeface="Bahnschrift" panose="020B0502040204020203" pitchFamily="34" charset="0"/>
            </a:endParaRPr>
          </a:p>
          <a:p>
            <a:endParaRPr lang="en-US" sz="1600" dirty="0">
              <a:solidFill>
                <a:srgbClr val="0EC8B6"/>
              </a:solidFill>
              <a:latin typeface="Bahnschrift" panose="020B0502040204020203" pitchFamily="34" charset="0"/>
            </a:endParaRPr>
          </a:p>
        </p:txBody>
      </p:sp>
      <p:sp>
        <p:nvSpPr>
          <p:cNvPr id="9" name="Title 1">
            <a:extLst>
              <a:ext uri="{FF2B5EF4-FFF2-40B4-BE49-F238E27FC236}">
                <a16:creationId xmlns:a16="http://schemas.microsoft.com/office/drawing/2014/main" id="{1A9AE9C1-D141-BFDC-D558-0AD6D0E661A2}"/>
              </a:ext>
            </a:extLst>
          </p:cNvPr>
          <p:cNvSpPr>
            <a:spLocks noGrp="1"/>
          </p:cNvSpPr>
          <p:nvPr>
            <p:ph type="title"/>
          </p:nvPr>
        </p:nvSpPr>
        <p:spPr>
          <a:xfrm>
            <a:off x="2674374" y="72500"/>
            <a:ext cx="8505171" cy="777009"/>
          </a:xfrm>
        </p:spPr>
        <p:txBody>
          <a:bodyPr/>
          <a:lstStyle/>
          <a:p>
            <a:r>
              <a:rPr lang="en-US" dirty="0">
                <a:latin typeface="Bahnschrift" panose="020B0502040204020203" pitchFamily="34" charset="0"/>
              </a:rPr>
              <a:t>RFM in a B2b context</a:t>
            </a:r>
          </a:p>
        </p:txBody>
      </p:sp>
    </p:spTree>
    <p:extLst>
      <p:ext uri="{BB962C8B-B14F-4D97-AF65-F5344CB8AC3E}">
        <p14:creationId xmlns:p14="http://schemas.microsoft.com/office/powerpoint/2010/main" val="1641040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99499" y="412694"/>
            <a:ext cx="8505171" cy="777009"/>
          </a:xfrm>
        </p:spPr>
        <p:txBody>
          <a:bodyPr/>
          <a:lstStyle/>
          <a:p>
            <a:r>
              <a:rPr lang="en-US" sz="2800" dirty="0">
                <a:latin typeface="Bahnschrift" panose="020B0502040204020203" pitchFamily="34" charset="0"/>
              </a:rPr>
              <a:t>Problems that can be solved with RFM</a:t>
            </a:r>
          </a:p>
        </p:txBody>
      </p:sp>
      <p:pic>
        <p:nvPicPr>
          <p:cNvPr id="8" name="Picture 4" descr="this image is taken from hackernoon for better understanding:">
            <a:extLst>
              <a:ext uri="{FF2B5EF4-FFF2-40B4-BE49-F238E27FC236}">
                <a16:creationId xmlns:a16="http://schemas.microsoft.com/office/drawing/2014/main" id="{BA48217B-DE03-E482-4655-C96960A59C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930013"/>
            <a:ext cx="5640336" cy="342986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279B4-0F31-8282-9B11-BF3B15CD6D55}"/>
              </a:ext>
            </a:extLst>
          </p:cNvPr>
          <p:cNvSpPr txBox="1"/>
          <p:nvPr/>
        </p:nvSpPr>
        <p:spPr>
          <a:xfrm>
            <a:off x="599499" y="1189703"/>
            <a:ext cx="5201533" cy="5078313"/>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EC8B6"/>
                </a:solidFill>
                <a:latin typeface="Bahnschrift" panose="020B0502040204020203" pitchFamily="34" charset="0"/>
              </a:rPr>
              <a:t>Segments customers based on their purchase behavior.</a:t>
            </a:r>
          </a:p>
          <a:p>
            <a:pPr marL="285750" indent="-285750">
              <a:buFont typeface="Arial" panose="020B0604020202020204" pitchFamily="34" charset="0"/>
              <a:buChar char="•"/>
            </a:pPr>
            <a:r>
              <a:rPr lang="en-US" dirty="0">
                <a:solidFill>
                  <a:srgbClr val="0EC8B6"/>
                </a:solidFill>
                <a:latin typeface="Bahnschrift" panose="020B0502040204020203" pitchFamily="34" charset="0"/>
              </a:rPr>
              <a:t>Helps enterprise identify the segment of customers where :</a:t>
            </a:r>
          </a:p>
          <a:p>
            <a:pPr marL="800100" lvl="1" indent="-342900">
              <a:buFont typeface="+mj-lt"/>
              <a:buAutoNum type="arabicPeriod"/>
            </a:pPr>
            <a:r>
              <a:rPr lang="en-US" dirty="0">
                <a:solidFill>
                  <a:srgbClr val="0EC8B6"/>
                </a:solidFill>
                <a:latin typeface="Bahnschrift" panose="020B0502040204020203" pitchFamily="34" charset="0"/>
              </a:rPr>
              <a:t>Post sales service is required.</a:t>
            </a:r>
          </a:p>
          <a:p>
            <a:pPr marL="800100" lvl="1" indent="-342900">
              <a:buFont typeface="+mj-lt"/>
              <a:buAutoNum type="arabicPeriod"/>
            </a:pPr>
            <a:r>
              <a:rPr lang="en-US" dirty="0">
                <a:solidFill>
                  <a:srgbClr val="0EC8B6"/>
                </a:solidFill>
                <a:latin typeface="Bahnschrift" panose="020B0502040204020203" pitchFamily="34" charset="0"/>
              </a:rPr>
              <a:t>To offer cash discount</a:t>
            </a:r>
          </a:p>
          <a:p>
            <a:pPr marL="800100" lvl="1" indent="-342900">
              <a:buFont typeface="+mj-lt"/>
              <a:buAutoNum type="arabicPeriod"/>
            </a:pPr>
            <a:r>
              <a:rPr lang="en-US" dirty="0">
                <a:solidFill>
                  <a:srgbClr val="0EC8B6"/>
                </a:solidFill>
                <a:latin typeface="Bahnschrift" panose="020B0502040204020203" pitchFamily="34" charset="0"/>
              </a:rPr>
              <a:t>Discount on Bulk</a:t>
            </a:r>
          </a:p>
          <a:p>
            <a:pPr marL="800100" lvl="1" indent="-342900">
              <a:buFont typeface="+mj-lt"/>
              <a:buAutoNum type="arabicPeriod"/>
            </a:pPr>
            <a:r>
              <a:rPr lang="en-US" dirty="0">
                <a:solidFill>
                  <a:srgbClr val="0EC8B6"/>
                </a:solidFill>
                <a:latin typeface="Bahnschrift" panose="020B0502040204020203" pitchFamily="34" charset="0"/>
              </a:rPr>
              <a:t>Prioritize delivery</a:t>
            </a:r>
          </a:p>
          <a:p>
            <a:pPr marL="800100" lvl="1" indent="-342900">
              <a:buFont typeface="+mj-lt"/>
              <a:buAutoNum type="arabicPeriod"/>
            </a:pPr>
            <a:r>
              <a:rPr lang="en-US" dirty="0">
                <a:solidFill>
                  <a:srgbClr val="0EC8B6"/>
                </a:solidFill>
                <a:latin typeface="Bahnschrift" panose="020B0502040204020203" pitchFamily="34" charset="0"/>
              </a:rPr>
              <a:t>Opportunities of upselling.</a:t>
            </a:r>
          </a:p>
          <a:p>
            <a:pPr lvl="1"/>
            <a:endParaRPr lang="en-US" dirty="0">
              <a:solidFill>
                <a:srgbClr val="0EC8B6"/>
              </a:solidFill>
              <a:latin typeface="Bahnschrift" panose="020B0502040204020203" pitchFamily="34" charset="0"/>
            </a:endParaRPr>
          </a:p>
          <a:p>
            <a:pPr marL="285750" indent="-285750">
              <a:buFont typeface="Arial" panose="020B0604020202020204" pitchFamily="34" charset="0"/>
              <a:buChar char="•"/>
            </a:pPr>
            <a:r>
              <a:rPr lang="en-US" dirty="0">
                <a:solidFill>
                  <a:srgbClr val="0EC8B6"/>
                </a:solidFill>
                <a:latin typeface="Bahnschrift" panose="020B0502040204020203" pitchFamily="34" charset="0"/>
              </a:rPr>
              <a:t>Helps enterprise manage stock to respond to seasonal ups and downs.</a:t>
            </a:r>
          </a:p>
          <a:p>
            <a:pPr marL="285750" indent="-285750">
              <a:buFont typeface="Arial" panose="020B0604020202020204" pitchFamily="34" charset="0"/>
              <a:buChar char="•"/>
            </a:pPr>
            <a:r>
              <a:rPr lang="en-US" dirty="0">
                <a:solidFill>
                  <a:srgbClr val="0EC8B6"/>
                </a:solidFill>
                <a:latin typeface="Bahnschrift" panose="020B0502040204020203" pitchFamily="34" charset="0"/>
              </a:rPr>
              <a:t>Identify big ticket customers and ensure they stay associated to ensure flow of revenue.</a:t>
            </a:r>
          </a:p>
          <a:p>
            <a:pPr marL="285750" indent="-285750">
              <a:buFont typeface="Arial" panose="020B0604020202020204" pitchFamily="34" charset="0"/>
              <a:buChar char="•"/>
            </a:pPr>
            <a:r>
              <a:rPr lang="en-US" dirty="0">
                <a:solidFill>
                  <a:srgbClr val="0EC8B6"/>
                </a:solidFill>
                <a:latin typeface="Bahnschrift" panose="020B0502040204020203" pitchFamily="34" charset="0"/>
              </a:rPr>
              <a:t>Potential customers to formulate new partnerships and optimize revenue growth.</a:t>
            </a:r>
          </a:p>
          <a:p>
            <a:pPr marL="285750" indent="-285750">
              <a:buFont typeface="Arial" panose="020B0604020202020204" pitchFamily="34" charset="0"/>
              <a:buChar char="•"/>
            </a:pPr>
            <a:r>
              <a:rPr lang="en-US" dirty="0">
                <a:solidFill>
                  <a:srgbClr val="0EC8B6"/>
                </a:solidFill>
                <a:latin typeface="Bahnschrift" panose="020B0502040204020203" pitchFamily="34" charset="0"/>
              </a:rPr>
              <a:t>Decide which customers to let go.</a:t>
            </a:r>
          </a:p>
          <a:p>
            <a:pPr marL="342900" indent="-342900">
              <a:buFont typeface="Arial" panose="020B0604020202020204" pitchFamily="34" charset="0"/>
              <a:buChar char="•"/>
            </a:pPr>
            <a:endParaRPr lang="en-IN" dirty="0">
              <a:solidFill>
                <a:srgbClr val="0EC8B6"/>
              </a:solidFill>
              <a:latin typeface="Bahnschrift" panose="020B0502040204020203" pitchFamily="34" charset="0"/>
            </a:endParaRPr>
          </a:p>
        </p:txBody>
      </p:sp>
      <p:sp>
        <p:nvSpPr>
          <p:cNvPr id="3" name="Slide Number Placeholder 22">
            <a:extLst>
              <a:ext uri="{FF2B5EF4-FFF2-40B4-BE49-F238E27FC236}">
                <a16:creationId xmlns:a16="http://schemas.microsoft.com/office/drawing/2014/main" id="{8F2673A8-14B1-CC85-C5DA-FBEFB54DAA85}"/>
              </a:ext>
            </a:extLst>
          </p:cNvPr>
          <p:cNvSpPr txBox="1">
            <a:spLocks/>
          </p:cNvSpPr>
          <p:nvPr/>
        </p:nvSpPr>
        <p:spPr>
          <a:xfrm>
            <a:off x="0" y="6473207"/>
            <a:ext cx="1067589" cy="47148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1433668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392129" y="511277"/>
            <a:ext cx="5093110" cy="690337"/>
          </a:xfrm>
        </p:spPr>
        <p:txBody>
          <a:bodyPr/>
          <a:lstStyle/>
          <a:p>
            <a:r>
              <a:rPr lang="en-US" dirty="0"/>
              <a:t>RFM using </a:t>
            </a:r>
            <a:r>
              <a:rPr lang="en-US" dirty="0" err="1"/>
              <a:t>Knime</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681809" y="6556589"/>
            <a:ext cx="987552" cy="471489"/>
          </a:xfrm>
        </p:spPr>
        <p:txBody>
          <a:bodyPr/>
          <a:lstStyle/>
          <a:p>
            <a:fld id="{48F63A3B-78C7-47BE-AE5E-E10140E04643}" type="slidenum">
              <a:rPr lang="en-US" smtClean="0"/>
              <a:pPr/>
              <a:t>24</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8600652" y="698094"/>
            <a:ext cx="3591348" cy="5565054"/>
          </a:xfrm>
        </p:spPr>
        <p:txBody>
          <a:bodyPr>
            <a:normAutofit lnSpcReduction="10000"/>
          </a:bodyPr>
          <a:lstStyle/>
          <a:p>
            <a:r>
              <a:rPr lang="en-US" dirty="0">
                <a:solidFill>
                  <a:srgbClr val="0EC8B6"/>
                </a:solidFill>
              </a:rPr>
              <a:t>Algorithms Used </a:t>
            </a:r>
          </a:p>
          <a:p>
            <a:pPr marL="457200" indent="-457200">
              <a:buFont typeface="+mj-lt"/>
              <a:buAutoNum type="arabicPeriod"/>
            </a:pPr>
            <a:endParaRPr lang="en-US" dirty="0">
              <a:solidFill>
                <a:srgbClr val="0EC8B6"/>
              </a:solidFill>
            </a:endParaRPr>
          </a:p>
          <a:p>
            <a:pPr marL="457200" indent="-457200">
              <a:buFont typeface="+mj-lt"/>
              <a:buAutoNum type="arabicPeriod"/>
            </a:pPr>
            <a:r>
              <a:rPr lang="en-US" dirty="0">
                <a:solidFill>
                  <a:srgbClr val="0EC8B6"/>
                </a:solidFill>
              </a:rPr>
              <a:t>Group BY : Used to group the data by the most important factors.</a:t>
            </a:r>
          </a:p>
          <a:p>
            <a:pPr marL="457200" indent="-457200">
              <a:buFont typeface="+mj-lt"/>
              <a:buAutoNum type="arabicPeriod"/>
            </a:pPr>
            <a:endParaRPr lang="en-US" dirty="0">
              <a:solidFill>
                <a:srgbClr val="0EC8B6"/>
              </a:solidFill>
            </a:endParaRPr>
          </a:p>
          <a:p>
            <a:pPr marL="457200" indent="-457200">
              <a:buFont typeface="+mj-lt"/>
              <a:buAutoNum type="arabicPeriod"/>
            </a:pPr>
            <a:r>
              <a:rPr lang="en-US" dirty="0">
                <a:solidFill>
                  <a:srgbClr val="0EC8B6"/>
                </a:solidFill>
              </a:rPr>
              <a:t>Auto Binner : To statistically segregate the data based on a calculated bin size.</a:t>
            </a:r>
          </a:p>
          <a:p>
            <a:pPr marL="457200" indent="-457200">
              <a:buFont typeface="+mj-lt"/>
              <a:buAutoNum type="arabicPeriod"/>
            </a:pPr>
            <a:endParaRPr lang="en-US" dirty="0">
              <a:solidFill>
                <a:srgbClr val="0EC8B6"/>
              </a:solidFill>
            </a:endParaRPr>
          </a:p>
          <a:p>
            <a:pPr marL="457200" indent="-457200">
              <a:buFont typeface="+mj-lt"/>
              <a:buAutoNum type="arabicPeriod"/>
            </a:pPr>
            <a:r>
              <a:rPr lang="en-US" dirty="0">
                <a:solidFill>
                  <a:srgbClr val="0EC8B6"/>
                </a:solidFill>
              </a:rPr>
              <a:t>Value Lookup : To re-arrange the value reciprocating the logic used in binning</a:t>
            </a:r>
          </a:p>
          <a:p>
            <a:endParaRPr lang="en-US" dirty="0"/>
          </a:p>
        </p:txBody>
      </p:sp>
      <p:pic>
        <p:nvPicPr>
          <p:cNvPr id="4098" name="Picture 2" descr="Unlocking Customer Value with RFM Analysis">
            <a:extLst>
              <a:ext uri="{FF2B5EF4-FFF2-40B4-BE49-F238E27FC236}">
                <a16:creationId xmlns:a16="http://schemas.microsoft.com/office/drawing/2014/main" id="{86EDC850-004E-A0EE-EFAB-9D5595D1E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2129" y="1371602"/>
            <a:ext cx="5208523" cy="497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718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632647" y="6386511"/>
            <a:ext cx="987552" cy="471489"/>
          </a:xfrm>
        </p:spPr>
        <p:txBody>
          <a:bodyPr/>
          <a:lstStyle/>
          <a:p>
            <a:fld id="{48F63A3B-78C7-47BE-AE5E-E10140E04643}" type="slidenum">
              <a:rPr lang="en-US" smtClean="0"/>
              <a:pPr/>
              <a:t>25</a:t>
            </a:fld>
            <a:endParaRPr lang="en-US" dirty="0"/>
          </a:p>
        </p:txBody>
      </p:sp>
      <p:pic>
        <p:nvPicPr>
          <p:cNvPr id="5" name="Picture 4">
            <a:extLst>
              <a:ext uri="{FF2B5EF4-FFF2-40B4-BE49-F238E27FC236}">
                <a16:creationId xmlns:a16="http://schemas.microsoft.com/office/drawing/2014/main" id="{9CBE21F7-397D-03D8-D392-62F2ECED3824}"/>
              </a:ext>
            </a:extLst>
          </p:cNvPr>
          <p:cNvPicPr>
            <a:picLocks noChangeAspect="1"/>
          </p:cNvPicPr>
          <p:nvPr/>
        </p:nvPicPr>
        <p:blipFill>
          <a:blip r:embed="rId3"/>
          <a:stretch>
            <a:fillRect/>
          </a:stretch>
        </p:blipFill>
        <p:spPr>
          <a:xfrm>
            <a:off x="1" y="-1"/>
            <a:ext cx="8908026" cy="6386511"/>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737420" y="178812"/>
            <a:ext cx="10196052" cy="1091627"/>
          </a:xfrm>
        </p:spPr>
        <p:txBody>
          <a:bodyPr/>
          <a:lstStyle/>
          <a:p>
            <a:r>
              <a:rPr lang="en-US" dirty="0"/>
              <a:t>Navigating through the output</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22787" y="1568758"/>
            <a:ext cx="5594555" cy="5282124"/>
          </a:xfrm>
        </p:spPr>
        <p:txBody>
          <a:bodyPr>
            <a:normAutofit/>
          </a:bodyPr>
          <a:lstStyle/>
          <a:p>
            <a:r>
              <a:rPr lang="en-US" sz="2000" dirty="0">
                <a:solidFill>
                  <a:srgbClr val="0EC8B6"/>
                </a:solidFill>
              </a:rPr>
              <a:t>The  preceding screenshot was captured from the KNIME analytics platform, where we’ve applied statistical techniques to segment customers along the three core RFM dimensions—Recency, Frequency, and Monetary value. </a:t>
            </a:r>
          </a:p>
          <a:p>
            <a:r>
              <a:rPr lang="en-US" sz="2000" dirty="0">
                <a:solidFill>
                  <a:srgbClr val="0EC8B6"/>
                </a:solidFill>
              </a:rPr>
              <a:t> Within KNIME, we leveraged built-in nodes to cluster customers by their most recent purchase date, highest order counts, and greatest total spend.</a:t>
            </a:r>
          </a:p>
          <a:p>
            <a:r>
              <a:rPr lang="en-US" sz="2000" dirty="0">
                <a:solidFill>
                  <a:srgbClr val="0EC8B6"/>
                </a:solidFill>
              </a:rPr>
              <a:t>Segmenting the customer based on their purchase pattern will then help us further segmenting the analyzed data with a rank.</a:t>
            </a:r>
          </a:p>
          <a:p>
            <a:pPr marL="0" indent="0">
              <a:buNone/>
            </a:pPr>
            <a:endParaRPr lang="en-US" sz="2000" dirty="0">
              <a:solidFill>
                <a:srgbClr val="0EC8B6"/>
              </a:solidFill>
            </a:endParaRPr>
          </a:p>
          <a:p>
            <a:pPr marL="0" indent="0">
              <a:buNone/>
            </a:pPr>
            <a:endParaRPr lang="en-US" sz="2000" dirty="0">
              <a:solidFill>
                <a:srgbClr val="0EC8B6"/>
              </a:solidFill>
            </a:endParaRPr>
          </a:p>
          <a:p>
            <a:pPr marL="0" indent="0">
              <a:buNone/>
            </a:pPr>
            <a:endParaRPr lang="en-US" sz="2000" dirty="0">
              <a:solidFill>
                <a:srgbClr val="0EC8B6"/>
              </a:solidFill>
            </a:endParaRP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737389" y="6446838"/>
            <a:ext cx="1067589" cy="471489"/>
          </a:xfrm>
        </p:spPr>
        <p:txBody>
          <a:bodyPr/>
          <a:lstStyle/>
          <a:p>
            <a:fld id="{48F63A3B-78C7-47BE-AE5E-E10140E04643}" type="slidenum">
              <a:rPr lang="en-US" smtClean="0"/>
              <a:pPr/>
              <a:t>26</a:t>
            </a:fld>
            <a:endParaRPr lang="en-US" dirty="0"/>
          </a:p>
        </p:txBody>
      </p:sp>
      <p:pic>
        <p:nvPicPr>
          <p:cNvPr id="2055" name="Picture 7">
            <a:extLst>
              <a:ext uri="{FF2B5EF4-FFF2-40B4-BE49-F238E27FC236}">
                <a16:creationId xmlns:a16="http://schemas.microsoft.com/office/drawing/2014/main" id="{5159C5D9-4124-48DD-939A-676C5C6FE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159303"/>
            <a:ext cx="5673213" cy="285806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31C1D12-FB87-473E-C3A5-209B49272719}"/>
              </a:ext>
            </a:extLst>
          </p:cNvPr>
          <p:cNvSpPr txBox="1"/>
          <p:nvPr/>
        </p:nvSpPr>
        <p:spPr>
          <a:xfrm>
            <a:off x="6017342" y="1568758"/>
            <a:ext cx="5220929" cy="646331"/>
          </a:xfrm>
          <a:prstGeom prst="rect">
            <a:avLst/>
          </a:prstGeom>
          <a:noFill/>
        </p:spPr>
        <p:txBody>
          <a:bodyPr wrap="square" rtlCol="0">
            <a:spAutoFit/>
          </a:bodyPr>
          <a:lstStyle/>
          <a:p>
            <a:endParaRPr lang="en-US" dirty="0"/>
          </a:p>
          <a:p>
            <a:endParaRPr lang="en-IN" dirty="0"/>
          </a:p>
        </p:txBody>
      </p:sp>
    </p:spTree>
    <p:extLst>
      <p:ext uri="{BB962C8B-B14F-4D97-AF65-F5344CB8AC3E}">
        <p14:creationId xmlns:p14="http://schemas.microsoft.com/office/powerpoint/2010/main" val="1941619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752014" y="6430755"/>
            <a:ext cx="1067589" cy="471489"/>
          </a:xfrm>
        </p:spPr>
        <p:txBody>
          <a:bodyPr/>
          <a:lstStyle/>
          <a:p>
            <a:fld id="{48F63A3B-78C7-47BE-AE5E-E10140E04643}" type="slidenum">
              <a:rPr lang="en-US" smtClean="0"/>
              <a:pPr/>
              <a:t>27</a:t>
            </a:fld>
            <a:endParaRPr lang="en-US" dirty="0"/>
          </a:p>
        </p:txBody>
      </p:sp>
      <p:pic>
        <p:nvPicPr>
          <p:cNvPr id="15" name="Picture 14">
            <a:extLst>
              <a:ext uri="{FF2B5EF4-FFF2-40B4-BE49-F238E27FC236}">
                <a16:creationId xmlns:a16="http://schemas.microsoft.com/office/drawing/2014/main" id="{723B8EC2-4EA7-646E-7181-65A595153603}"/>
              </a:ext>
            </a:extLst>
          </p:cNvPr>
          <p:cNvPicPr>
            <a:picLocks noChangeAspect="1"/>
          </p:cNvPicPr>
          <p:nvPr/>
        </p:nvPicPr>
        <p:blipFill>
          <a:blip r:embed="rId3"/>
          <a:stretch>
            <a:fillRect/>
          </a:stretch>
        </p:blipFill>
        <p:spPr>
          <a:xfrm>
            <a:off x="1934336" y="0"/>
            <a:ext cx="10120012" cy="6858000"/>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765973" y="69379"/>
            <a:ext cx="7843837" cy="1012782"/>
          </a:xfrm>
        </p:spPr>
        <p:txBody>
          <a:bodyPr/>
          <a:lstStyle/>
          <a:p>
            <a:r>
              <a:rPr lang="en-US" dirty="0"/>
              <a:t>Ranking the outcomes</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677483" y="1290185"/>
            <a:ext cx="7591446" cy="4353531"/>
          </a:xfrm>
        </p:spPr>
        <p:txBody>
          <a:bodyPr>
            <a:normAutofit/>
          </a:bodyPr>
          <a:lstStyle/>
          <a:p>
            <a:r>
              <a:rPr lang="en-US" dirty="0">
                <a:solidFill>
                  <a:srgbClr val="0EC8B6"/>
                </a:solidFill>
              </a:rPr>
              <a:t>Each R, F, and M metric is translated into a ranked score—using consistent business logic—to classify every customer into an RFM segment. </a:t>
            </a:r>
          </a:p>
          <a:p>
            <a:endParaRPr lang="en-US" dirty="0">
              <a:solidFill>
                <a:srgbClr val="0EC8B6"/>
              </a:solidFill>
            </a:endParaRPr>
          </a:p>
          <a:p>
            <a:pPr marL="0" indent="0">
              <a:buNone/>
            </a:pPr>
            <a:r>
              <a:rPr lang="en-US" dirty="0">
                <a:solidFill>
                  <a:srgbClr val="0EC8B6"/>
                </a:solidFill>
              </a:rPr>
              <a:t>Business Implications: This structured ranking enables precise targeting and tailored strategies for each distinct customer group.</a:t>
            </a:r>
          </a:p>
          <a:p>
            <a:pPr marL="0" indent="0">
              <a:buNone/>
            </a:pPr>
            <a:endParaRPr lang="en-US" dirty="0">
              <a:solidFill>
                <a:srgbClr val="0EC8B6"/>
              </a:solidFill>
            </a:endParaRPr>
          </a:p>
          <a:p>
            <a:pPr marL="0" indent="0">
              <a:buNone/>
            </a:pPr>
            <a:r>
              <a:rPr lang="en-US" dirty="0">
                <a:solidFill>
                  <a:srgbClr val="0EC8B6"/>
                </a:solidFill>
              </a:rPr>
              <a:t>The Recency Factor : The lesser the better.</a:t>
            </a:r>
          </a:p>
          <a:p>
            <a:pPr marL="0" indent="0">
              <a:buNone/>
            </a:pPr>
            <a:r>
              <a:rPr lang="en-US" dirty="0">
                <a:solidFill>
                  <a:srgbClr val="0EC8B6"/>
                </a:solidFill>
              </a:rPr>
              <a:t>The Frequency &amp; Monetary Factor : The higher the better</a:t>
            </a:r>
          </a:p>
          <a:p>
            <a:endParaRPr lang="en-US" dirty="0"/>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7329-9A2F-E507-80CD-5CCADE1E62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EFCE92-895B-0CEA-7DBE-95C1579FE26C}"/>
              </a:ext>
            </a:extLst>
          </p:cNvPr>
          <p:cNvSpPr>
            <a:spLocks noGrp="1"/>
          </p:cNvSpPr>
          <p:nvPr>
            <p:ph type="sldNum" sz="quarter" idx="10"/>
          </p:nvPr>
        </p:nvSpPr>
        <p:spPr>
          <a:xfrm>
            <a:off x="-752014" y="6430755"/>
            <a:ext cx="1067589" cy="471489"/>
          </a:xfrm>
        </p:spPr>
        <p:txBody>
          <a:bodyPr/>
          <a:lstStyle/>
          <a:p>
            <a:fld id="{48F63A3B-78C7-47BE-AE5E-E10140E04643}" type="slidenum">
              <a:rPr lang="en-US" smtClean="0"/>
              <a:pPr/>
              <a:t>29</a:t>
            </a:fld>
            <a:endParaRPr lang="en-US" dirty="0"/>
          </a:p>
        </p:txBody>
      </p:sp>
      <p:pic>
        <p:nvPicPr>
          <p:cNvPr id="5" name="Picture 4">
            <a:extLst>
              <a:ext uri="{FF2B5EF4-FFF2-40B4-BE49-F238E27FC236}">
                <a16:creationId xmlns:a16="http://schemas.microsoft.com/office/drawing/2014/main" id="{A63623BA-5042-D412-5DEA-BE0C73516B94}"/>
              </a:ext>
            </a:extLst>
          </p:cNvPr>
          <p:cNvPicPr>
            <a:picLocks noChangeAspect="1"/>
          </p:cNvPicPr>
          <p:nvPr/>
        </p:nvPicPr>
        <p:blipFill>
          <a:blip r:embed="rId3"/>
          <a:stretch>
            <a:fillRect/>
          </a:stretch>
        </p:blipFill>
        <p:spPr>
          <a:xfrm>
            <a:off x="0" y="0"/>
            <a:ext cx="12192000" cy="6104362"/>
          </a:xfrm>
          <a:prstGeom prst="rect">
            <a:avLst/>
          </a:prstGeom>
        </p:spPr>
      </p:pic>
    </p:spTree>
    <p:extLst>
      <p:ext uri="{BB962C8B-B14F-4D97-AF65-F5344CB8AC3E}">
        <p14:creationId xmlns:p14="http://schemas.microsoft.com/office/powerpoint/2010/main" val="3098565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2140500" y="330722"/>
            <a:ext cx="9875463" cy="999746"/>
          </a:xfrm>
        </p:spPr>
        <p:txBody>
          <a:bodyPr/>
          <a:lstStyle/>
          <a:p>
            <a:r>
              <a:rPr lang="en-US" dirty="0"/>
              <a:t>The Core analysis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1841493"/>
            <a:ext cx="10248146" cy="4770699"/>
          </a:xfrm>
        </p:spPr>
        <p:txBody>
          <a:bodyPr>
            <a:normAutofit fontScale="92500" lnSpcReduction="10000"/>
          </a:bodyPr>
          <a:lstStyle/>
          <a:p>
            <a:r>
              <a:rPr lang="en-US" dirty="0">
                <a:solidFill>
                  <a:srgbClr val="0EC8B6"/>
                </a:solidFill>
              </a:rPr>
              <a:t>After statistically churning out the RFM ranks we are going to create segments based on logical understanding of the outcome</a:t>
            </a:r>
          </a:p>
          <a:p>
            <a:r>
              <a:rPr lang="en-US" dirty="0">
                <a:solidFill>
                  <a:srgbClr val="0EC8B6"/>
                </a:solidFill>
              </a:rPr>
              <a:t>We have 5 segments for the entire customer base</a:t>
            </a:r>
          </a:p>
          <a:p>
            <a:pPr marL="1138428" lvl="2" indent="-342900">
              <a:buFont typeface="+mj-lt"/>
              <a:buAutoNum type="arabicPeriod"/>
            </a:pPr>
            <a:r>
              <a:rPr lang="en-US" dirty="0">
                <a:solidFill>
                  <a:srgbClr val="0EC8B6"/>
                </a:solidFill>
              </a:rPr>
              <a:t>The New Accounts : Customers with very good(Low) Recency score. This customers logically have found us for the first time and have made a trial purchase or an emergency purchase which logically means that their Monetary score  will range from low to medium and Frequency score would as well be low</a:t>
            </a:r>
          </a:p>
          <a:p>
            <a:pPr marL="1138428" lvl="2" indent="-342900">
              <a:buFont typeface="+mj-lt"/>
              <a:buAutoNum type="arabicPeriod"/>
            </a:pPr>
            <a:r>
              <a:rPr lang="en-US" dirty="0">
                <a:solidFill>
                  <a:srgbClr val="0EC8B6"/>
                </a:solidFill>
              </a:rPr>
              <a:t>Big spenders : The Customers who believe in bulk purchase and prefer to purchase on off seasons to leverage the price cuts announced. These Customers will have low to medium Recency and Frequency value but very high Monetary value.</a:t>
            </a:r>
          </a:p>
          <a:p>
            <a:pPr marL="1138428" lvl="2" indent="-342900">
              <a:buFont typeface="+mj-lt"/>
              <a:buAutoNum type="arabicPeriod"/>
            </a:pPr>
            <a:r>
              <a:rPr lang="en-US" dirty="0">
                <a:solidFill>
                  <a:srgbClr val="0EC8B6"/>
                </a:solidFill>
              </a:rPr>
              <a:t>Loyal Customers : These Customers buy repeatedly from the same vendors to reap the benefits of customer loyalty. They have an above medium to high Frequency and recency value with low to Medium Monetary score.</a:t>
            </a:r>
          </a:p>
          <a:p>
            <a:pPr marL="1138428" lvl="2" indent="-342900">
              <a:buFont typeface="+mj-lt"/>
              <a:buAutoNum type="arabicPeriod"/>
            </a:pPr>
            <a:r>
              <a:rPr lang="en-US" dirty="0">
                <a:solidFill>
                  <a:srgbClr val="0EC8B6"/>
                </a:solidFill>
              </a:rPr>
              <a:t>Accounts at risk : These accounts have once transacted frequently or only purchase to meet their seasonal shortfalls but have discontinued for various reasons. These accounts can have dynamic monetary score will have very bad Recency score and Frequency score.  </a:t>
            </a:r>
          </a:p>
          <a:p>
            <a:pPr marL="1138428" lvl="2" indent="-342900">
              <a:buFont typeface="+mj-lt"/>
              <a:buAutoNum type="arabicPeriod"/>
            </a:pPr>
            <a:r>
              <a:rPr lang="en-US" dirty="0">
                <a:solidFill>
                  <a:srgbClr val="0EC8B6"/>
                </a:solidFill>
              </a:rPr>
              <a:t>Churned: Customers who have already left the system.</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671977" y="6513870"/>
            <a:ext cx="987552" cy="471489"/>
          </a:xfrm>
        </p:spPr>
        <p:txBody>
          <a:bodyPr/>
          <a:lstStyle/>
          <a:p>
            <a:fld id="{48F63A3B-78C7-47BE-AE5E-E10140E04643}" type="slidenum">
              <a:rPr lang="en-US" smtClean="0"/>
              <a:pPr/>
              <a:t>30</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52394-EA7C-84AB-DFF7-0ED912AA0607}"/>
              </a:ext>
            </a:extLst>
          </p:cNvPr>
          <p:cNvSpPr>
            <a:spLocks noGrp="1"/>
          </p:cNvSpPr>
          <p:nvPr>
            <p:ph type="title"/>
          </p:nvPr>
        </p:nvSpPr>
        <p:spPr>
          <a:xfrm>
            <a:off x="758951" y="579450"/>
            <a:ext cx="3932237" cy="956259"/>
          </a:xfrm>
        </p:spPr>
        <p:txBody>
          <a:bodyPr/>
          <a:lstStyle/>
          <a:p>
            <a:r>
              <a:rPr lang="en-US" sz="2400" dirty="0"/>
              <a:t>Understanding the contribution</a:t>
            </a:r>
            <a:endParaRPr lang="en-IN" sz="2400" dirty="0"/>
          </a:p>
        </p:txBody>
      </p:sp>
      <p:sp>
        <p:nvSpPr>
          <p:cNvPr id="3" name="Slide Number Placeholder 2">
            <a:extLst>
              <a:ext uri="{FF2B5EF4-FFF2-40B4-BE49-F238E27FC236}">
                <a16:creationId xmlns:a16="http://schemas.microsoft.com/office/drawing/2014/main" id="{F92EF25B-B277-1339-9F20-E6BF743151F2}"/>
              </a:ext>
            </a:extLst>
          </p:cNvPr>
          <p:cNvSpPr>
            <a:spLocks noGrp="1"/>
          </p:cNvSpPr>
          <p:nvPr>
            <p:ph type="sldNum" sz="quarter" idx="12"/>
          </p:nvPr>
        </p:nvSpPr>
        <p:spPr/>
        <p:txBody>
          <a:bodyPr/>
          <a:lstStyle/>
          <a:p>
            <a:fld id="{48F63A3B-78C7-47BE-AE5E-E10140E04643}" type="slidenum">
              <a:rPr lang="en-US" smtClean="0"/>
              <a:pPr/>
              <a:t>31</a:t>
            </a:fld>
            <a:endParaRPr lang="en-US" dirty="0"/>
          </a:p>
        </p:txBody>
      </p:sp>
      <p:sp>
        <p:nvSpPr>
          <p:cNvPr id="4" name="Text Placeholder 3">
            <a:extLst>
              <a:ext uri="{FF2B5EF4-FFF2-40B4-BE49-F238E27FC236}">
                <a16:creationId xmlns:a16="http://schemas.microsoft.com/office/drawing/2014/main" id="{9D9631C6-71B6-FFCF-ABAB-7F7EEA28101E}"/>
              </a:ext>
            </a:extLst>
          </p:cNvPr>
          <p:cNvSpPr>
            <a:spLocks noGrp="1"/>
          </p:cNvSpPr>
          <p:nvPr>
            <p:ph type="body" sz="half" idx="2"/>
          </p:nvPr>
        </p:nvSpPr>
        <p:spPr>
          <a:xfrm>
            <a:off x="758952" y="1734874"/>
            <a:ext cx="3932237" cy="4439784"/>
          </a:xfrm>
        </p:spPr>
        <p:txBody>
          <a:bodyPr>
            <a:normAutofit lnSpcReduction="10000"/>
          </a:bodyPr>
          <a:lstStyle/>
          <a:p>
            <a:pPr marL="285750" indent="-285750">
              <a:lnSpc>
                <a:spcPct val="110000"/>
              </a:lnSpc>
              <a:buFont typeface="Arial" panose="020B0604020202020204" pitchFamily="34" charset="0"/>
              <a:buChar char="•"/>
            </a:pPr>
            <a:r>
              <a:rPr lang="en-US" sz="1800" dirty="0">
                <a:solidFill>
                  <a:srgbClr val="0EC8B6"/>
                </a:solidFill>
                <a:latin typeface="Arial Narrow" panose="020B0606020202030204" pitchFamily="34" charset="0"/>
              </a:rPr>
              <a:t>We can clearly observe that the 40.03% of the Total sales is single handedly spearheaded by the big spenders, who are 21.35% of the population.</a:t>
            </a:r>
          </a:p>
          <a:p>
            <a:pPr marL="285750" indent="-285750">
              <a:lnSpc>
                <a:spcPct val="110000"/>
              </a:lnSpc>
              <a:buFont typeface="Arial" panose="020B0604020202020204" pitchFamily="34" charset="0"/>
              <a:buChar char="•"/>
            </a:pPr>
            <a:r>
              <a:rPr lang="en-US" sz="1800" dirty="0">
                <a:solidFill>
                  <a:srgbClr val="0EC8B6"/>
                </a:solidFill>
                <a:latin typeface="Arial Narrow" panose="020B0606020202030204" pitchFamily="34" charset="0"/>
              </a:rPr>
              <a:t>Loyal Customers contribute to 15.89% of the total Sales  who are 17.98% of the pop’.</a:t>
            </a:r>
          </a:p>
          <a:p>
            <a:pPr marL="285750" indent="-285750">
              <a:lnSpc>
                <a:spcPct val="110000"/>
              </a:lnSpc>
              <a:buFont typeface="Arial" panose="020B0604020202020204" pitchFamily="34" charset="0"/>
              <a:buChar char="•"/>
            </a:pPr>
            <a:r>
              <a:rPr lang="en-US" sz="1800" dirty="0">
                <a:solidFill>
                  <a:srgbClr val="0EC8B6"/>
                </a:solidFill>
                <a:latin typeface="Arial Narrow" panose="020B0606020202030204" pitchFamily="34" charset="0"/>
              </a:rPr>
              <a:t>New shoppers constitute 13.21% of the total Sales who are 20.22% of the </a:t>
            </a:r>
            <a:r>
              <a:rPr lang="en-US" sz="1800" dirty="0" err="1">
                <a:solidFill>
                  <a:srgbClr val="0EC8B6"/>
                </a:solidFill>
                <a:latin typeface="Arial Narrow" panose="020B0606020202030204" pitchFamily="34" charset="0"/>
              </a:rPr>
              <a:t>pop’n</a:t>
            </a:r>
            <a:r>
              <a:rPr lang="en-US" sz="1800" dirty="0">
                <a:solidFill>
                  <a:srgbClr val="0EC8B6"/>
                </a:solidFill>
                <a:latin typeface="Arial Narrow" panose="020B0606020202030204" pitchFamily="34" charset="0"/>
              </a:rPr>
              <a:t>.</a:t>
            </a:r>
          </a:p>
          <a:p>
            <a:pPr marL="285750" indent="-285750">
              <a:lnSpc>
                <a:spcPct val="110000"/>
              </a:lnSpc>
              <a:buFont typeface="Arial" panose="020B0604020202020204" pitchFamily="34" charset="0"/>
              <a:buChar char="•"/>
            </a:pPr>
            <a:r>
              <a:rPr lang="en-US" sz="1800" dirty="0">
                <a:solidFill>
                  <a:srgbClr val="0EC8B6"/>
                </a:solidFill>
                <a:latin typeface="Arial Narrow" panose="020B0606020202030204" pitchFamily="34" charset="0"/>
              </a:rPr>
              <a:t>If we combine these 3 the total population% combined = 59.55% and % contribution to Sales = 69.13 %.</a:t>
            </a:r>
          </a:p>
          <a:p>
            <a:pPr marL="285750" indent="-285750">
              <a:lnSpc>
                <a:spcPct val="110000"/>
              </a:lnSpc>
              <a:buFont typeface="Arial" panose="020B0604020202020204" pitchFamily="34" charset="0"/>
              <a:buChar char="•"/>
            </a:pPr>
            <a:r>
              <a:rPr lang="en-US" sz="1800" dirty="0">
                <a:solidFill>
                  <a:srgbClr val="0EC8B6"/>
                </a:solidFill>
                <a:latin typeface="Arial Narrow" panose="020B0606020202030204" pitchFamily="34" charset="0"/>
              </a:rPr>
              <a:t>If we combine the At risk% of population that would be 95.08%</a:t>
            </a:r>
            <a:endParaRPr lang="en-IN" sz="1800" dirty="0">
              <a:solidFill>
                <a:srgbClr val="0EC8B6"/>
              </a:solidFill>
              <a:latin typeface="Arial Narrow" panose="020B0606020202030204" pitchFamily="34" charset="0"/>
            </a:endParaRPr>
          </a:p>
        </p:txBody>
      </p:sp>
      <p:pic>
        <p:nvPicPr>
          <p:cNvPr id="7" name="Content Placeholder 6">
            <a:extLst>
              <a:ext uri="{FF2B5EF4-FFF2-40B4-BE49-F238E27FC236}">
                <a16:creationId xmlns:a16="http://schemas.microsoft.com/office/drawing/2014/main" id="{CD653E05-6B44-9F9E-8A61-36854A1E767E}"/>
              </a:ext>
            </a:extLst>
          </p:cNvPr>
          <p:cNvPicPr>
            <a:picLocks noGrp="1" noChangeAspect="1"/>
          </p:cNvPicPr>
          <p:nvPr>
            <p:ph idx="1"/>
          </p:nvPr>
        </p:nvPicPr>
        <p:blipFill>
          <a:blip r:embed="rId2"/>
          <a:stretch>
            <a:fillRect/>
          </a:stretch>
        </p:blipFill>
        <p:spPr>
          <a:xfrm>
            <a:off x="4847303" y="758951"/>
            <a:ext cx="7197213" cy="5219061"/>
          </a:xfrm>
          <a:prstGeom prst="rect">
            <a:avLst/>
          </a:prstGeom>
        </p:spPr>
      </p:pic>
    </p:spTree>
    <p:extLst>
      <p:ext uri="{BB962C8B-B14F-4D97-AF65-F5344CB8AC3E}">
        <p14:creationId xmlns:p14="http://schemas.microsoft.com/office/powerpoint/2010/main" val="1790781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9CE4-FCA8-0AE8-2476-0ED6057BADF6}"/>
              </a:ext>
            </a:extLst>
          </p:cNvPr>
          <p:cNvSpPr>
            <a:spLocks noGrp="1"/>
          </p:cNvSpPr>
          <p:nvPr>
            <p:ph type="title"/>
          </p:nvPr>
        </p:nvSpPr>
        <p:spPr/>
        <p:txBody>
          <a:bodyPr/>
          <a:lstStyle/>
          <a:p>
            <a:endParaRPr lang="en-IN" dirty="0"/>
          </a:p>
        </p:txBody>
      </p:sp>
      <p:sp>
        <p:nvSpPr>
          <p:cNvPr id="3" name="Picture Placeholder 2">
            <a:extLst>
              <a:ext uri="{FF2B5EF4-FFF2-40B4-BE49-F238E27FC236}">
                <a16:creationId xmlns:a16="http://schemas.microsoft.com/office/drawing/2014/main" id="{C8982DD2-BEE9-7791-D830-F5C979B691EE}"/>
              </a:ext>
            </a:extLst>
          </p:cNvPr>
          <p:cNvSpPr>
            <a:spLocks noGrp="1"/>
          </p:cNvSpPr>
          <p:nvPr>
            <p:ph type="pic" sz="quarter" idx="11"/>
          </p:nvPr>
        </p:nvSpPr>
        <p:spPr/>
      </p:sp>
      <p:pic>
        <p:nvPicPr>
          <p:cNvPr id="5" name="Picture 4">
            <a:extLst>
              <a:ext uri="{FF2B5EF4-FFF2-40B4-BE49-F238E27FC236}">
                <a16:creationId xmlns:a16="http://schemas.microsoft.com/office/drawing/2014/main" id="{CCC3E986-78E9-6AB8-E555-CA5FB093FB5B}"/>
              </a:ext>
            </a:extLst>
          </p:cNvPr>
          <p:cNvPicPr>
            <a:picLocks noChangeAspect="1"/>
          </p:cNvPicPr>
          <p:nvPr/>
        </p:nvPicPr>
        <p:blipFill>
          <a:blip r:embed="rId2"/>
          <a:stretch>
            <a:fillRect/>
          </a:stretch>
        </p:blipFill>
        <p:spPr>
          <a:xfrm>
            <a:off x="0" y="30303"/>
            <a:ext cx="12192000" cy="6797393"/>
          </a:xfrm>
          <a:prstGeom prst="rect">
            <a:avLst/>
          </a:prstGeom>
        </p:spPr>
      </p:pic>
    </p:spTree>
    <p:extLst>
      <p:ext uri="{BB962C8B-B14F-4D97-AF65-F5344CB8AC3E}">
        <p14:creationId xmlns:p14="http://schemas.microsoft.com/office/powerpoint/2010/main" val="1512909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A605-9A8D-45FA-5A7B-3D293D7B41DD}"/>
              </a:ext>
            </a:extLst>
          </p:cNvPr>
          <p:cNvSpPr>
            <a:spLocks noGrp="1"/>
          </p:cNvSpPr>
          <p:nvPr>
            <p:ph type="title"/>
          </p:nvPr>
        </p:nvSpPr>
        <p:spPr>
          <a:xfrm>
            <a:off x="0" y="448543"/>
            <a:ext cx="7399757" cy="657586"/>
          </a:xfrm>
        </p:spPr>
        <p:txBody>
          <a:bodyPr/>
          <a:lstStyle/>
          <a:p>
            <a:r>
              <a:rPr lang="en-US" sz="2400" dirty="0"/>
              <a:t>Marketing Budget allocation</a:t>
            </a:r>
            <a:endParaRPr lang="en-IN" sz="2400" dirty="0"/>
          </a:p>
        </p:txBody>
      </p:sp>
      <p:sp>
        <p:nvSpPr>
          <p:cNvPr id="3" name="Content Placeholder 2">
            <a:extLst>
              <a:ext uri="{FF2B5EF4-FFF2-40B4-BE49-F238E27FC236}">
                <a16:creationId xmlns:a16="http://schemas.microsoft.com/office/drawing/2014/main" id="{39E8812D-463F-0421-6A71-055D10D23A6C}"/>
              </a:ext>
            </a:extLst>
          </p:cNvPr>
          <p:cNvSpPr>
            <a:spLocks noGrp="1"/>
          </p:cNvSpPr>
          <p:nvPr>
            <p:ph idx="1"/>
          </p:nvPr>
        </p:nvSpPr>
        <p:spPr>
          <a:xfrm>
            <a:off x="98322" y="1453794"/>
            <a:ext cx="6583680" cy="5334460"/>
          </a:xfrm>
        </p:spPr>
        <p:txBody>
          <a:bodyPr/>
          <a:lstStyle/>
          <a:p>
            <a:pPr marL="342900" indent="-342900">
              <a:buFont typeface="Arial" panose="020B0604020202020204" pitchFamily="34" charset="0"/>
              <a:buChar char="•"/>
            </a:pPr>
            <a:r>
              <a:rPr lang="en-US" dirty="0">
                <a:solidFill>
                  <a:srgbClr val="0EC8B6"/>
                </a:solidFill>
              </a:rPr>
              <a:t>The marketing plan should be designed primarily keeping in mind the very interests of the Big spenders and Loyal Customers because that would secure 50% of the sales.</a:t>
            </a:r>
          </a:p>
          <a:p>
            <a:pPr marL="342900" indent="-342900">
              <a:buFont typeface="Arial" panose="020B0604020202020204" pitchFamily="34" charset="0"/>
              <a:buChar char="•"/>
            </a:pPr>
            <a:r>
              <a:rPr lang="en-US" dirty="0">
                <a:solidFill>
                  <a:srgbClr val="0EC8B6"/>
                </a:solidFill>
              </a:rPr>
              <a:t>The second priority should be the customers at risk and New shoppers as they would bring the other 45% of the Revenue.</a:t>
            </a:r>
            <a:endParaRPr lang="en-IN" dirty="0">
              <a:solidFill>
                <a:srgbClr val="0EC8B6"/>
              </a:solidFill>
            </a:endParaRPr>
          </a:p>
        </p:txBody>
      </p:sp>
      <p:sp>
        <p:nvSpPr>
          <p:cNvPr id="4" name="Slide Number Placeholder 3">
            <a:extLst>
              <a:ext uri="{FF2B5EF4-FFF2-40B4-BE49-F238E27FC236}">
                <a16:creationId xmlns:a16="http://schemas.microsoft.com/office/drawing/2014/main" id="{A88D2790-9EB3-3BBA-7C25-B9F45AC3D4EE}"/>
              </a:ext>
            </a:extLst>
          </p:cNvPr>
          <p:cNvSpPr>
            <a:spLocks noGrp="1"/>
          </p:cNvSpPr>
          <p:nvPr>
            <p:ph type="sldNum" sz="quarter" idx="10"/>
          </p:nvPr>
        </p:nvSpPr>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4266000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129F-F88C-F0E5-089D-14850E8C73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777DD5-F0E4-B041-EB72-E5C852ADCF4F}"/>
              </a:ext>
            </a:extLst>
          </p:cNvPr>
          <p:cNvSpPr>
            <a:spLocks noGrp="1"/>
          </p:cNvSpPr>
          <p:nvPr>
            <p:ph type="sldNum" sz="quarter" idx="10"/>
          </p:nvPr>
        </p:nvSpPr>
        <p:spPr>
          <a:xfrm>
            <a:off x="-752014" y="6430755"/>
            <a:ext cx="1067589" cy="471489"/>
          </a:xfrm>
        </p:spPr>
        <p:txBody>
          <a:bodyPr/>
          <a:lstStyle/>
          <a:p>
            <a:fld id="{48F63A3B-78C7-47BE-AE5E-E10140E04643}" type="slidenum">
              <a:rPr lang="en-US" smtClean="0"/>
              <a:pPr/>
              <a:t>34</a:t>
            </a:fld>
            <a:endParaRPr lang="en-US" dirty="0"/>
          </a:p>
        </p:txBody>
      </p:sp>
      <p:sp>
        <p:nvSpPr>
          <p:cNvPr id="11" name="Title 10">
            <a:extLst>
              <a:ext uri="{FF2B5EF4-FFF2-40B4-BE49-F238E27FC236}">
                <a16:creationId xmlns:a16="http://schemas.microsoft.com/office/drawing/2014/main" id="{5BFB6E64-541D-D14D-9188-7432FEE49CDA}"/>
              </a:ext>
            </a:extLst>
          </p:cNvPr>
          <p:cNvSpPr>
            <a:spLocks noGrp="1"/>
          </p:cNvSpPr>
          <p:nvPr>
            <p:ph type="title"/>
          </p:nvPr>
        </p:nvSpPr>
        <p:spPr>
          <a:xfrm>
            <a:off x="1560395" y="-240891"/>
            <a:ext cx="9879437" cy="980844"/>
          </a:xfrm>
        </p:spPr>
        <p:txBody>
          <a:bodyPr/>
          <a:lstStyle/>
          <a:p>
            <a:r>
              <a:rPr lang="en-US" sz="3200" b="0" dirty="0"/>
              <a:t>Recommendations for </a:t>
            </a:r>
            <a:r>
              <a:rPr lang="en-US" sz="3200" b="0" dirty="0" err="1"/>
              <a:t>cRM</a:t>
            </a:r>
            <a:endParaRPr lang="en-IN" sz="3200" b="0" dirty="0"/>
          </a:p>
        </p:txBody>
      </p:sp>
      <p:pic>
        <p:nvPicPr>
          <p:cNvPr id="13" name="Picture 12">
            <a:extLst>
              <a:ext uri="{FF2B5EF4-FFF2-40B4-BE49-F238E27FC236}">
                <a16:creationId xmlns:a16="http://schemas.microsoft.com/office/drawing/2014/main" id="{EC0788BD-E6C3-BD1C-2EDB-E10A66DD4CB4}"/>
              </a:ext>
            </a:extLst>
          </p:cNvPr>
          <p:cNvPicPr>
            <a:picLocks noChangeAspect="1"/>
          </p:cNvPicPr>
          <p:nvPr/>
        </p:nvPicPr>
        <p:blipFill>
          <a:blip r:embed="rId3"/>
          <a:stretch>
            <a:fillRect/>
          </a:stretch>
        </p:blipFill>
        <p:spPr>
          <a:xfrm>
            <a:off x="1" y="3519947"/>
            <a:ext cx="2694038" cy="2689123"/>
          </a:xfrm>
          <a:prstGeom prst="rect">
            <a:avLst/>
          </a:prstGeom>
        </p:spPr>
      </p:pic>
      <p:sp>
        <p:nvSpPr>
          <p:cNvPr id="3" name="TextBox 2">
            <a:extLst>
              <a:ext uri="{FF2B5EF4-FFF2-40B4-BE49-F238E27FC236}">
                <a16:creationId xmlns:a16="http://schemas.microsoft.com/office/drawing/2014/main" id="{66F5A7E7-BCF3-7725-EBF8-4EA00DFCCFD2}"/>
              </a:ext>
            </a:extLst>
          </p:cNvPr>
          <p:cNvSpPr txBox="1"/>
          <p:nvPr/>
        </p:nvSpPr>
        <p:spPr>
          <a:xfrm>
            <a:off x="2851355" y="794052"/>
            <a:ext cx="9340645" cy="6863417"/>
          </a:xfrm>
          <a:prstGeom prst="rect">
            <a:avLst/>
          </a:prstGeom>
          <a:noFill/>
        </p:spPr>
        <p:txBody>
          <a:bodyPr wrap="square" rtlCol="0">
            <a:spAutoFit/>
          </a:bodyPr>
          <a:lstStyle/>
          <a:p>
            <a:pPr>
              <a:buNone/>
            </a:pPr>
            <a:r>
              <a:rPr lang="en-US" sz="2000" b="1" dirty="0">
                <a:solidFill>
                  <a:srgbClr val="0EC8B6"/>
                </a:solidFill>
              </a:rPr>
              <a:t>Customized Engagement Strategies by Customer Segment</a:t>
            </a:r>
            <a:endParaRPr lang="en-US" sz="2000" dirty="0">
              <a:solidFill>
                <a:srgbClr val="0EC8B6"/>
              </a:solidFill>
            </a:endParaRPr>
          </a:p>
          <a:p>
            <a:pPr>
              <a:buFont typeface="+mj-lt"/>
              <a:buAutoNum type="arabicPeriod"/>
            </a:pPr>
            <a:r>
              <a:rPr lang="en-US" sz="2000" b="1" dirty="0">
                <a:solidFill>
                  <a:srgbClr val="0EC8B6"/>
                </a:solidFill>
              </a:rPr>
              <a:t>New Accounts</a:t>
            </a:r>
            <a:endParaRPr lang="en-US" sz="2000" dirty="0">
              <a:solidFill>
                <a:srgbClr val="0EC8B6"/>
              </a:solidFill>
            </a:endParaRPr>
          </a:p>
          <a:p>
            <a:pPr marL="742950" lvl="1" indent="-285750">
              <a:buFont typeface="+mj-lt"/>
              <a:buAutoNum type="arabicPeriod"/>
            </a:pPr>
            <a:r>
              <a:rPr lang="en-US" sz="2000" b="1" dirty="0">
                <a:solidFill>
                  <a:srgbClr val="0EC8B6"/>
                </a:solidFill>
              </a:rPr>
              <a:t>Incentives:</a:t>
            </a:r>
            <a:r>
              <a:rPr lang="en-US" sz="2000" dirty="0">
                <a:solidFill>
                  <a:srgbClr val="0EC8B6"/>
                </a:solidFill>
              </a:rPr>
              <a:t> We can offer introductory cash‐discounts and delivery credits to encourage repeat ordering.</a:t>
            </a:r>
          </a:p>
          <a:p>
            <a:pPr marL="742950" lvl="1" indent="-285750">
              <a:buFont typeface="+mj-lt"/>
              <a:buAutoNum type="arabicPeriod"/>
            </a:pPr>
            <a:r>
              <a:rPr lang="en-US" sz="2000" b="1" dirty="0">
                <a:solidFill>
                  <a:srgbClr val="0EC8B6"/>
                </a:solidFill>
              </a:rPr>
              <a:t>Value Add:</a:t>
            </a:r>
            <a:r>
              <a:rPr lang="en-US" sz="2000" dirty="0">
                <a:solidFill>
                  <a:srgbClr val="0EC8B6"/>
                </a:solidFill>
              </a:rPr>
              <a:t> We can provide complimentary seasonal demand forecasts to demonstrate the commitment to helping them navigate peak periods.</a:t>
            </a:r>
          </a:p>
          <a:p>
            <a:pPr marL="742950" lvl="1" indent="-285750">
              <a:buFont typeface="+mj-lt"/>
              <a:buAutoNum type="arabicPeriod"/>
            </a:pPr>
            <a:r>
              <a:rPr lang="en-US" sz="2000" b="1" dirty="0">
                <a:solidFill>
                  <a:srgbClr val="0EC8B6"/>
                </a:solidFill>
              </a:rPr>
              <a:t>Rationale:</a:t>
            </a:r>
            <a:r>
              <a:rPr lang="en-US" sz="2000" dirty="0">
                <a:solidFill>
                  <a:srgbClr val="0EC8B6"/>
                </a:solidFill>
              </a:rPr>
              <a:t> These clients are either trialing our products, addressing one-off shortages or entering new markets—early rewards and planning support will build trust and loyalty.</a:t>
            </a:r>
          </a:p>
          <a:p>
            <a:pPr>
              <a:buFont typeface="+mj-lt"/>
              <a:buAutoNum type="arabicPeriod"/>
            </a:pPr>
            <a:r>
              <a:rPr lang="en-US" sz="2000" b="1" dirty="0">
                <a:solidFill>
                  <a:srgbClr val="0EC8B6"/>
                </a:solidFill>
              </a:rPr>
              <a:t>Loyal Customers</a:t>
            </a:r>
            <a:endParaRPr lang="en-US" sz="2000" dirty="0">
              <a:solidFill>
                <a:srgbClr val="0EC8B6"/>
              </a:solidFill>
            </a:endParaRPr>
          </a:p>
          <a:p>
            <a:pPr marL="742950" lvl="1" indent="-285750">
              <a:buFont typeface="+mj-lt"/>
              <a:buAutoNum type="arabicPeriod"/>
            </a:pPr>
            <a:r>
              <a:rPr lang="en-US" sz="2000" b="1" dirty="0">
                <a:solidFill>
                  <a:srgbClr val="0EC8B6"/>
                </a:solidFill>
              </a:rPr>
              <a:t>Flexible Terms:</a:t>
            </a:r>
            <a:r>
              <a:rPr lang="en-US" sz="2000" dirty="0">
                <a:solidFill>
                  <a:srgbClr val="0EC8B6"/>
                </a:solidFill>
              </a:rPr>
              <a:t> We can extend revolving credit lines and instant bulk‐order discounts.</a:t>
            </a:r>
          </a:p>
          <a:p>
            <a:pPr marL="742950" lvl="1" indent="-285750">
              <a:buFont typeface="+mj-lt"/>
              <a:buAutoNum type="arabicPeriod"/>
            </a:pPr>
            <a:r>
              <a:rPr lang="en-US" sz="2000" b="1" dirty="0">
                <a:solidFill>
                  <a:srgbClr val="0EC8B6"/>
                </a:solidFill>
              </a:rPr>
              <a:t>Bundled Offers:</a:t>
            </a:r>
            <a:r>
              <a:rPr lang="en-US" sz="2000" dirty="0">
                <a:solidFill>
                  <a:srgbClr val="0EC8B6"/>
                </a:solidFill>
              </a:rPr>
              <a:t> We can create tailored product bundles with preferential pricing.</a:t>
            </a:r>
          </a:p>
          <a:p>
            <a:pPr marL="742950" lvl="1" indent="-285750">
              <a:buFont typeface="+mj-lt"/>
              <a:buAutoNum type="arabicPeriod"/>
            </a:pPr>
            <a:r>
              <a:rPr lang="en-US" sz="2000" b="1" dirty="0">
                <a:solidFill>
                  <a:srgbClr val="0EC8B6"/>
                </a:solidFill>
              </a:rPr>
              <a:t>Logistics Perks:</a:t>
            </a:r>
            <a:r>
              <a:rPr lang="en-US" sz="2000" dirty="0">
                <a:solidFill>
                  <a:srgbClr val="0EC8B6"/>
                </a:solidFill>
              </a:rPr>
              <a:t> We can also include expedited shipping or free delivery thresholds.</a:t>
            </a:r>
          </a:p>
          <a:p>
            <a:pPr marL="742950" lvl="1" indent="-285750">
              <a:buFont typeface="+mj-lt"/>
              <a:buAutoNum type="arabicPeriod"/>
            </a:pPr>
            <a:r>
              <a:rPr lang="en-US" sz="2000" b="1" dirty="0">
                <a:solidFill>
                  <a:srgbClr val="0EC8B6"/>
                </a:solidFill>
              </a:rPr>
              <a:t>Rationale:</a:t>
            </a:r>
            <a:r>
              <a:rPr lang="en-US" sz="2000" dirty="0">
                <a:solidFill>
                  <a:srgbClr val="0EC8B6"/>
                </a:solidFill>
              </a:rPr>
              <a:t> Sustaining these high‐frequency buyers is critical—they form the foundation of steady revenue.</a:t>
            </a:r>
          </a:p>
          <a:p>
            <a:endParaRPr lang="en-US" sz="2000" dirty="0">
              <a:solidFill>
                <a:srgbClr val="0EC8B6"/>
              </a:solidFill>
            </a:endParaRPr>
          </a:p>
          <a:p>
            <a:endParaRPr lang="en-US" sz="2000" dirty="0">
              <a:solidFill>
                <a:srgbClr val="0EC8B6"/>
              </a:solidFill>
            </a:endParaRPr>
          </a:p>
          <a:p>
            <a:endParaRPr lang="en-US" sz="2000" dirty="0">
              <a:solidFill>
                <a:srgbClr val="0EC8B6"/>
              </a:solidFill>
            </a:endParaRPr>
          </a:p>
          <a:p>
            <a:endParaRPr lang="en-IN" sz="2000" dirty="0">
              <a:solidFill>
                <a:srgbClr val="0EC8B6"/>
              </a:solidFill>
            </a:endParaRPr>
          </a:p>
        </p:txBody>
      </p:sp>
    </p:spTree>
    <p:extLst>
      <p:ext uri="{BB962C8B-B14F-4D97-AF65-F5344CB8AC3E}">
        <p14:creationId xmlns:p14="http://schemas.microsoft.com/office/powerpoint/2010/main" val="491039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089AF-FBB9-5CAD-844F-27A91CCC756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41D4B3-D25E-A47B-0997-0458F4069584}"/>
              </a:ext>
            </a:extLst>
          </p:cNvPr>
          <p:cNvSpPr>
            <a:spLocks noGrp="1"/>
          </p:cNvSpPr>
          <p:nvPr>
            <p:ph type="sldNum" sz="quarter" idx="10"/>
          </p:nvPr>
        </p:nvSpPr>
        <p:spPr>
          <a:xfrm>
            <a:off x="-632647" y="6386511"/>
            <a:ext cx="987552" cy="471489"/>
          </a:xfrm>
        </p:spPr>
        <p:txBody>
          <a:bodyPr/>
          <a:lstStyle/>
          <a:p>
            <a:fld id="{48F63A3B-78C7-47BE-AE5E-E10140E04643}" type="slidenum">
              <a:rPr lang="en-US" smtClean="0"/>
              <a:pPr/>
              <a:t>35</a:t>
            </a:fld>
            <a:endParaRPr lang="en-US" dirty="0"/>
          </a:p>
        </p:txBody>
      </p:sp>
      <p:pic>
        <p:nvPicPr>
          <p:cNvPr id="4" name="Picture 3">
            <a:extLst>
              <a:ext uri="{FF2B5EF4-FFF2-40B4-BE49-F238E27FC236}">
                <a16:creationId xmlns:a16="http://schemas.microsoft.com/office/drawing/2014/main" id="{132A8FC5-43AE-A225-E5DB-DADA38419BB3}"/>
              </a:ext>
            </a:extLst>
          </p:cNvPr>
          <p:cNvPicPr>
            <a:picLocks noChangeAspect="1"/>
          </p:cNvPicPr>
          <p:nvPr/>
        </p:nvPicPr>
        <p:blipFill>
          <a:blip r:embed="rId3"/>
          <a:stretch>
            <a:fillRect/>
          </a:stretch>
        </p:blipFill>
        <p:spPr>
          <a:xfrm>
            <a:off x="8996516" y="3429001"/>
            <a:ext cx="3195484" cy="3429000"/>
          </a:xfrm>
          <a:prstGeom prst="rect">
            <a:avLst/>
          </a:prstGeom>
        </p:spPr>
      </p:pic>
      <p:sp>
        <p:nvSpPr>
          <p:cNvPr id="6" name="TextBox 5">
            <a:extLst>
              <a:ext uri="{FF2B5EF4-FFF2-40B4-BE49-F238E27FC236}">
                <a16:creationId xmlns:a16="http://schemas.microsoft.com/office/drawing/2014/main" id="{F1891DC0-FCD9-7BB7-DBEA-6C3EA3127BE1}"/>
              </a:ext>
            </a:extLst>
          </p:cNvPr>
          <p:cNvSpPr txBox="1"/>
          <p:nvPr/>
        </p:nvSpPr>
        <p:spPr>
          <a:xfrm>
            <a:off x="-70045" y="0"/>
            <a:ext cx="9194379" cy="7478970"/>
          </a:xfrm>
          <a:prstGeom prst="rect">
            <a:avLst/>
          </a:prstGeom>
          <a:noFill/>
        </p:spPr>
        <p:txBody>
          <a:bodyPr wrap="square" rtlCol="0">
            <a:spAutoFit/>
          </a:bodyPr>
          <a:lstStyle/>
          <a:p>
            <a:pPr>
              <a:buNone/>
            </a:pPr>
            <a:r>
              <a:rPr lang="en-US" sz="2000" b="1" dirty="0">
                <a:solidFill>
                  <a:srgbClr val="0EC8B6"/>
                </a:solidFill>
              </a:rPr>
              <a:t> </a:t>
            </a:r>
          </a:p>
          <a:p>
            <a:pPr>
              <a:buNone/>
            </a:pPr>
            <a:r>
              <a:rPr lang="en-US" sz="2000" b="1" dirty="0">
                <a:solidFill>
                  <a:srgbClr val="0EC8B6"/>
                </a:solidFill>
              </a:rPr>
              <a:t>Customized Engagement Strategies by Customer Segment</a:t>
            </a:r>
          </a:p>
          <a:p>
            <a:pPr>
              <a:buNone/>
            </a:pPr>
            <a:r>
              <a:rPr lang="en-US" sz="2000" b="1" dirty="0">
                <a:solidFill>
                  <a:srgbClr val="0EC8B6"/>
                </a:solidFill>
              </a:rPr>
              <a:t>3.</a:t>
            </a:r>
            <a:r>
              <a:rPr lang="en-US" sz="2000" b="1">
                <a:solidFill>
                  <a:srgbClr val="0EC8B6"/>
                </a:solidFill>
              </a:rPr>
              <a:t>Big Spenders</a:t>
            </a:r>
            <a:endParaRPr lang="en-US" sz="2000" dirty="0">
              <a:solidFill>
                <a:srgbClr val="0EC8B6"/>
              </a:solidFill>
            </a:endParaRPr>
          </a:p>
          <a:p>
            <a:pPr lvl="1">
              <a:buFont typeface="Arial" panose="020B0604020202020204" pitchFamily="34" charset="0"/>
              <a:buChar char="•"/>
            </a:pPr>
            <a:r>
              <a:rPr lang="en-US" sz="2000" b="1" dirty="0">
                <a:solidFill>
                  <a:srgbClr val="0EC8B6"/>
                </a:solidFill>
              </a:rPr>
              <a:t>Premium Recognition:</a:t>
            </a:r>
            <a:r>
              <a:rPr lang="en-US" sz="2000" dirty="0">
                <a:solidFill>
                  <a:srgbClr val="0EC8B6"/>
                </a:solidFill>
              </a:rPr>
              <a:t> We can send guaranteed gift incentives or VIP rewards on their next purchase to accelerate reorder cycles.</a:t>
            </a:r>
          </a:p>
          <a:p>
            <a:pPr lvl="1">
              <a:buFont typeface="Arial" panose="020B0604020202020204" pitchFamily="34" charset="0"/>
              <a:buChar char="•"/>
            </a:pPr>
            <a:r>
              <a:rPr lang="en-US" sz="2000" b="1" dirty="0">
                <a:solidFill>
                  <a:srgbClr val="0EC8B6"/>
                </a:solidFill>
              </a:rPr>
              <a:t>White-Glove Service:</a:t>
            </a:r>
            <a:r>
              <a:rPr lang="en-US" sz="2000" dirty="0">
                <a:solidFill>
                  <a:srgbClr val="0EC8B6"/>
                </a:solidFill>
              </a:rPr>
              <a:t> We can provide dedicated post‐sales support and priority in technical assistance.</a:t>
            </a:r>
          </a:p>
          <a:p>
            <a:pPr lvl="1">
              <a:buFont typeface="Arial" panose="020B0604020202020204" pitchFamily="34" charset="0"/>
              <a:buChar char="•"/>
            </a:pPr>
            <a:r>
              <a:rPr lang="en-US" sz="2000" b="1" dirty="0">
                <a:solidFill>
                  <a:srgbClr val="0EC8B6"/>
                </a:solidFill>
              </a:rPr>
              <a:t>Infrastructure Subsidies:</a:t>
            </a:r>
            <a:r>
              <a:rPr lang="en-US" sz="2000" dirty="0">
                <a:solidFill>
                  <a:srgbClr val="0EC8B6"/>
                </a:solidFill>
              </a:rPr>
              <a:t> Offset warehousing or storage costs for top-tier accounts to enable larger, more frequent orders and position them as regional hubs or dealers.</a:t>
            </a:r>
          </a:p>
          <a:p>
            <a:pPr lvl="1">
              <a:buFont typeface="Arial" panose="020B0604020202020204" pitchFamily="34" charset="0"/>
              <a:buChar char="•"/>
            </a:pPr>
            <a:r>
              <a:rPr lang="en-US" sz="2000" b="1" dirty="0">
                <a:solidFill>
                  <a:srgbClr val="0EC8B6"/>
                </a:solidFill>
              </a:rPr>
              <a:t>Rationale:</a:t>
            </a:r>
            <a:r>
              <a:rPr lang="en-US" sz="2000" dirty="0">
                <a:solidFill>
                  <a:srgbClr val="0EC8B6"/>
                </a:solidFill>
              </a:rPr>
              <a:t> These high-value clients drive a disproportionate share of revenue; exceptional treatment cements long-term partnerships and frequent engagements.</a:t>
            </a:r>
            <a:endParaRPr lang="en-US" sz="2000" b="1" dirty="0">
              <a:solidFill>
                <a:srgbClr val="0EC8B6"/>
              </a:solidFill>
            </a:endParaRPr>
          </a:p>
          <a:p>
            <a:pPr>
              <a:buNone/>
            </a:pPr>
            <a:r>
              <a:rPr lang="en-US" sz="2000" b="1" dirty="0">
                <a:solidFill>
                  <a:srgbClr val="0EC8B6"/>
                </a:solidFill>
              </a:rPr>
              <a:t>4.At-Risk Customers</a:t>
            </a:r>
            <a:endParaRPr lang="en-US" sz="2000" dirty="0">
              <a:solidFill>
                <a:srgbClr val="0EC8B6"/>
              </a:solidFill>
            </a:endParaRPr>
          </a:p>
          <a:p>
            <a:pPr lvl="1">
              <a:buFont typeface="Arial" panose="020B0604020202020204" pitchFamily="34" charset="0"/>
              <a:buChar char="•"/>
            </a:pPr>
            <a:r>
              <a:rPr lang="en-US" sz="2000" b="1" dirty="0">
                <a:solidFill>
                  <a:srgbClr val="0EC8B6"/>
                </a:solidFill>
              </a:rPr>
              <a:t>Re-Engagement Campaigns:</a:t>
            </a:r>
            <a:r>
              <a:rPr lang="en-US" sz="2000" dirty="0">
                <a:solidFill>
                  <a:srgbClr val="0EC8B6"/>
                </a:solidFill>
              </a:rPr>
              <a:t> We can deploy personalized newsletters and targeted promotional schemes to recapture their interest.</a:t>
            </a:r>
          </a:p>
          <a:p>
            <a:pPr lvl="1">
              <a:buFont typeface="Arial" panose="020B0604020202020204" pitchFamily="34" charset="0"/>
              <a:buChar char="•"/>
            </a:pPr>
            <a:r>
              <a:rPr lang="en-US" sz="2000" b="1" dirty="0">
                <a:solidFill>
                  <a:srgbClr val="0EC8B6"/>
                </a:solidFill>
              </a:rPr>
              <a:t>Win-Back Offers:</a:t>
            </a:r>
            <a:r>
              <a:rPr lang="en-US" sz="2000" dirty="0">
                <a:solidFill>
                  <a:srgbClr val="0EC8B6"/>
                </a:solidFill>
              </a:rPr>
              <a:t> We can combine time-limited discounts with service guarantees (e.g., faster turnaround, dedicated account check-ins).</a:t>
            </a:r>
          </a:p>
          <a:p>
            <a:pPr lvl="1">
              <a:buFont typeface="Arial" panose="020B0604020202020204" pitchFamily="34" charset="0"/>
              <a:buChar char="•"/>
            </a:pPr>
            <a:r>
              <a:rPr lang="en-US" sz="2000" b="1" dirty="0">
                <a:solidFill>
                  <a:srgbClr val="0EC8B6"/>
                </a:solidFill>
              </a:rPr>
              <a:t>Rationale:</a:t>
            </a:r>
            <a:r>
              <a:rPr lang="en-US" sz="2000" dirty="0">
                <a:solidFill>
                  <a:srgbClr val="0EC8B6"/>
                </a:solidFill>
              </a:rPr>
              <a:t> Proactive outreach can reverse early signs of churn; where it fails, you’ll have clarity to reallocate resources effectively..</a:t>
            </a:r>
          </a:p>
          <a:p>
            <a:endParaRPr lang="en-US" sz="2000" dirty="0">
              <a:solidFill>
                <a:srgbClr val="0EC8B6"/>
              </a:solidFill>
            </a:endParaRPr>
          </a:p>
          <a:p>
            <a:endParaRPr lang="en-US" sz="2000" dirty="0">
              <a:solidFill>
                <a:srgbClr val="0EC8B6"/>
              </a:solidFill>
            </a:endParaRPr>
          </a:p>
          <a:p>
            <a:endParaRPr lang="en-US" sz="2000" dirty="0">
              <a:solidFill>
                <a:srgbClr val="0EC8B6"/>
              </a:solidFill>
            </a:endParaRPr>
          </a:p>
          <a:p>
            <a:endParaRPr lang="en-IN" sz="2000" dirty="0">
              <a:solidFill>
                <a:srgbClr val="0EC8B6"/>
              </a:solidFill>
            </a:endParaRPr>
          </a:p>
        </p:txBody>
      </p:sp>
    </p:spTree>
    <p:extLst>
      <p:ext uri="{BB962C8B-B14F-4D97-AF65-F5344CB8AC3E}">
        <p14:creationId xmlns:p14="http://schemas.microsoft.com/office/powerpoint/2010/main" val="3186121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840186" y="707691"/>
            <a:ext cx="10511627" cy="1012785"/>
          </a:xfrm>
        </p:spPr>
        <p:txBody>
          <a:bodyPr/>
          <a:lstStyle/>
          <a:p>
            <a:r>
              <a:rPr lang="en-US" sz="3200" dirty="0">
                <a:latin typeface="Bahnschrift" panose="020B0502040204020203" pitchFamily="34" charset="0"/>
              </a:rPr>
              <a:t>Strategic recommendations</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36</a:t>
            </a:fld>
            <a:endParaRPr lang="en-US" dirty="0"/>
          </a:p>
        </p:txBody>
      </p:sp>
      <p:sp>
        <p:nvSpPr>
          <p:cNvPr id="6" name="Content Placeholder 5">
            <a:extLst>
              <a:ext uri="{FF2B5EF4-FFF2-40B4-BE49-F238E27FC236}">
                <a16:creationId xmlns:a16="http://schemas.microsoft.com/office/drawing/2014/main" id="{C835F71A-90FC-F9E5-1A23-0B1C0839256C}"/>
              </a:ext>
            </a:extLst>
          </p:cNvPr>
          <p:cNvSpPr>
            <a:spLocks noGrp="1"/>
          </p:cNvSpPr>
          <p:nvPr>
            <p:ph sz="quarter" idx="4"/>
          </p:nvPr>
        </p:nvSpPr>
        <p:spPr>
          <a:xfrm>
            <a:off x="525553" y="2217236"/>
            <a:ext cx="11312486" cy="5928742"/>
          </a:xfrm>
        </p:spPr>
        <p:txBody>
          <a:bodyPr>
            <a:normAutofit/>
          </a:bodyPr>
          <a:lstStyle/>
          <a:p>
            <a:pPr>
              <a:buNone/>
            </a:pPr>
            <a:r>
              <a:rPr lang="en-US" sz="2000" b="1" dirty="0">
                <a:solidFill>
                  <a:srgbClr val="0EC8B6"/>
                </a:solidFill>
                <a:latin typeface="Bahnschrift" panose="020B0502040204020203" pitchFamily="34" charset="0"/>
              </a:rPr>
              <a:t>Strategic Recommendations</a:t>
            </a:r>
            <a:endParaRPr lang="en-US" sz="2000" dirty="0">
              <a:solidFill>
                <a:srgbClr val="0EC8B6"/>
              </a:solidFill>
              <a:latin typeface="Bahnschrift" panose="020B0502040204020203" pitchFamily="34" charset="0"/>
            </a:endParaRPr>
          </a:p>
          <a:p>
            <a:pPr>
              <a:buFont typeface="+mj-lt"/>
              <a:buAutoNum type="arabicPeriod"/>
            </a:pPr>
            <a:r>
              <a:rPr lang="en-US" sz="2000" b="1" dirty="0">
                <a:solidFill>
                  <a:srgbClr val="0EC8B6"/>
                </a:solidFill>
                <a:latin typeface="Bahnschrift" panose="020B0502040204020203" pitchFamily="34" charset="0"/>
              </a:rPr>
              <a:t>Super-</a:t>
            </a:r>
            <a:r>
              <a:rPr lang="en-US" sz="2000" b="1" dirty="0" err="1">
                <a:solidFill>
                  <a:srgbClr val="0EC8B6"/>
                </a:solidFill>
                <a:latin typeface="Bahnschrift" panose="020B0502040204020203" pitchFamily="34" charset="0"/>
              </a:rPr>
              <a:t>Stockist</a:t>
            </a:r>
            <a:r>
              <a:rPr lang="en-US" sz="2000" b="1" dirty="0">
                <a:solidFill>
                  <a:srgbClr val="0EC8B6"/>
                </a:solidFill>
                <a:latin typeface="Bahnschrift" panose="020B0502040204020203" pitchFamily="34" charset="0"/>
              </a:rPr>
              <a:t> Program in Southern Europe</a:t>
            </a:r>
            <a:endParaRPr lang="en-US" sz="2000" dirty="0">
              <a:solidFill>
                <a:srgbClr val="0EC8B6"/>
              </a:solidFill>
              <a:latin typeface="Bahnschrift" panose="020B0502040204020203" pitchFamily="34" charset="0"/>
            </a:endParaRPr>
          </a:p>
          <a:p>
            <a:pPr marL="404622" indent="-285750"/>
            <a:r>
              <a:rPr lang="en-US" sz="2000" b="1" dirty="0">
                <a:solidFill>
                  <a:srgbClr val="0EC8B6"/>
                </a:solidFill>
                <a:latin typeface="Bahnschrift" panose="020B0502040204020203" pitchFamily="34" charset="0"/>
              </a:rPr>
              <a:t>Target Markets:</a:t>
            </a:r>
            <a:r>
              <a:rPr lang="en-US" sz="2000" dirty="0">
                <a:solidFill>
                  <a:srgbClr val="0EC8B6"/>
                </a:solidFill>
                <a:latin typeface="Bahnschrift" panose="020B0502040204020203" pitchFamily="34" charset="0"/>
              </a:rPr>
              <a:t> Spain, France, Italy, and the U.K.</a:t>
            </a:r>
          </a:p>
          <a:p>
            <a:pPr marL="404622" indent="-285750"/>
            <a:r>
              <a:rPr lang="en-US" sz="2000" b="1" dirty="0">
                <a:solidFill>
                  <a:srgbClr val="0EC8B6"/>
                </a:solidFill>
                <a:latin typeface="Bahnschrift" panose="020B0502040204020203" pitchFamily="34" charset="0"/>
              </a:rPr>
              <a:t>Action:</a:t>
            </a:r>
            <a:r>
              <a:rPr lang="en-US" sz="2000" dirty="0">
                <a:solidFill>
                  <a:srgbClr val="0EC8B6"/>
                </a:solidFill>
                <a:latin typeface="Bahnschrift" panose="020B0502040204020203" pitchFamily="34" charset="0"/>
              </a:rPr>
              <a:t> We can identify and appoint high-performing Spanish accounts as “Super-</a:t>
            </a:r>
            <a:r>
              <a:rPr lang="en-US" sz="2000" dirty="0" err="1">
                <a:solidFill>
                  <a:srgbClr val="0EC8B6"/>
                </a:solidFill>
                <a:latin typeface="Bahnschrift" panose="020B0502040204020203" pitchFamily="34" charset="0"/>
              </a:rPr>
              <a:t>Stockists</a:t>
            </a:r>
            <a:r>
              <a:rPr lang="en-US" sz="2000" dirty="0">
                <a:solidFill>
                  <a:srgbClr val="0EC8B6"/>
                </a:solidFill>
                <a:latin typeface="Bahnschrift" panose="020B0502040204020203" pitchFamily="34" charset="0"/>
              </a:rPr>
              <a:t>” to centralize regional inventory, streamline intra-Europe shipments, and reduce per-unit logistics costs.</a:t>
            </a:r>
          </a:p>
          <a:p>
            <a:pPr marL="404622" indent="-285750"/>
            <a:r>
              <a:rPr lang="en-US" sz="2000" b="1" dirty="0">
                <a:solidFill>
                  <a:srgbClr val="0EC8B6"/>
                </a:solidFill>
                <a:latin typeface="Bahnschrift" panose="020B0502040204020203" pitchFamily="34" charset="0"/>
              </a:rPr>
              <a:t>Benefit:</a:t>
            </a:r>
            <a:r>
              <a:rPr lang="en-US" sz="2000" dirty="0">
                <a:solidFill>
                  <a:srgbClr val="0EC8B6"/>
                </a:solidFill>
                <a:latin typeface="Bahnschrift" panose="020B0502040204020203" pitchFamily="34" charset="0"/>
              </a:rPr>
              <a:t> Leverage Spain’s outsized per-account spend, lowers cross-border freight expenses, and ensures rapid local fulfillment without inflating end-customer prices.</a:t>
            </a:r>
          </a:p>
          <a:p>
            <a:pPr>
              <a:buNone/>
            </a:pPr>
            <a:endParaRPr lang="en-IN" sz="2000" dirty="0">
              <a:latin typeface="Bahnschrift" panose="020B0502040204020203" pitchFamily="34" charset="0"/>
            </a:endParaRPr>
          </a:p>
        </p:txBody>
      </p:sp>
    </p:spTree>
    <p:extLst>
      <p:ext uri="{BB962C8B-B14F-4D97-AF65-F5344CB8AC3E}">
        <p14:creationId xmlns:p14="http://schemas.microsoft.com/office/powerpoint/2010/main" val="1686213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9D55-8735-754F-12F1-01221449E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EC0FF-1B90-05C1-44DC-ABEE94FEEFF5}"/>
              </a:ext>
            </a:extLst>
          </p:cNvPr>
          <p:cNvSpPr>
            <a:spLocks noGrp="1"/>
          </p:cNvSpPr>
          <p:nvPr>
            <p:ph type="title"/>
          </p:nvPr>
        </p:nvSpPr>
        <p:spPr>
          <a:xfrm>
            <a:off x="840186" y="44245"/>
            <a:ext cx="10511627" cy="1012785"/>
          </a:xfrm>
        </p:spPr>
        <p:txBody>
          <a:bodyPr/>
          <a:lstStyle/>
          <a:p>
            <a:r>
              <a:rPr lang="en-US" sz="3200" dirty="0">
                <a:latin typeface="Bahnschrift" panose="020B0502040204020203" pitchFamily="34" charset="0"/>
              </a:rPr>
              <a:t>Strategic recommendations</a:t>
            </a:r>
          </a:p>
        </p:txBody>
      </p:sp>
      <p:sp>
        <p:nvSpPr>
          <p:cNvPr id="3" name="Slide Number Placeholder 2">
            <a:extLst>
              <a:ext uri="{FF2B5EF4-FFF2-40B4-BE49-F238E27FC236}">
                <a16:creationId xmlns:a16="http://schemas.microsoft.com/office/drawing/2014/main" id="{55503FE6-547A-B55A-CCC2-FC6A1A3BCE3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37</a:t>
            </a:fld>
            <a:endParaRPr lang="en-US" dirty="0"/>
          </a:p>
        </p:txBody>
      </p:sp>
      <p:sp>
        <p:nvSpPr>
          <p:cNvPr id="6" name="Content Placeholder 5">
            <a:extLst>
              <a:ext uri="{FF2B5EF4-FFF2-40B4-BE49-F238E27FC236}">
                <a16:creationId xmlns:a16="http://schemas.microsoft.com/office/drawing/2014/main" id="{187EEC59-09F3-9F27-622D-990E4A8A8DC7}"/>
              </a:ext>
            </a:extLst>
          </p:cNvPr>
          <p:cNvSpPr>
            <a:spLocks noGrp="1"/>
          </p:cNvSpPr>
          <p:nvPr>
            <p:ph sz="quarter" idx="4"/>
          </p:nvPr>
        </p:nvSpPr>
        <p:spPr>
          <a:xfrm>
            <a:off x="525553" y="1090982"/>
            <a:ext cx="11312486" cy="5928742"/>
          </a:xfrm>
        </p:spPr>
        <p:txBody>
          <a:bodyPr>
            <a:normAutofit lnSpcReduction="10000"/>
          </a:bodyPr>
          <a:lstStyle/>
          <a:p>
            <a:pPr>
              <a:buNone/>
            </a:pPr>
            <a:r>
              <a:rPr lang="en-US" dirty="0">
                <a:solidFill>
                  <a:srgbClr val="0EC8B6"/>
                </a:solidFill>
                <a:latin typeface="Bahnschrift" panose="020B0502040204020203" pitchFamily="34" charset="0"/>
              </a:rPr>
              <a:t>2. </a:t>
            </a:r>
            <a:r>
              <a:rPr lang="en-US" b="1" dirty="0">
                <a:solidFill>
                  <a:srgbClr val="0EC8B6"/>
                </a:solidFill>
                <a:latin typeface="Bahnschrift" panose="020B0502040204020203" pitchFamily="34" charset="0"/>
              </a:rPr>
              <a:t>Bulk-Purchase &amp; Credit Facilities for U.S. Accounts</a:t>
            </a:r>
            <a:endParaRPr lang="en-US" dirty="0">
              <a:solidFill>
                <a:srgbClr val="0EC8B6"/>
              </a:solidFill>
              <a:latin typeface="Bahnschrift" panose="020B0502040204020203" pitchFamily="34" charset="0"/>
            </a:endParaRPr>
          </a:p>
          <a:p>
            <a:pPr>
              <a:buFont typeface="Arial" panose="020B0604020202020204" pitchFamily="34" charset="0"/>
              <a:buChar char="•"/>
            </a:pPr>
            <a:r>
              <a:rPr lang="en-US" b="1" dirty="0">
                <a:solidFill>
                  <a:srgbClr val="0EC8B6"/>
                </a:solidFill>
                <a:latin typeface="Bahnschrift" panose="020B0502040204020203" pitchFamily="34" charset="0"/>
              </a:rPr>
              <a:t>Target Markets:</a:t>
            </a:r>
            <a:r>
              <a:rPr lang="en-US" dirty="0">
                <a:solidFill>
                  <a:srgbClr val="0EC8B6"/>
                </a:solidFill>
                <a:latin typeface="Bahnschrift" panose="020B0502040204020203" pitchFamily="34" charset="0"/>
              </a:rPr>
              <a:t> United States</a:t>
            </a:r>
          </a:p>
          <a:p>
            <a:pPr>
              <a:buFont typeface="Arial" panose="020B0604020202020204" pitchFamily="34" charset="0"/>
              <a:buChar char="•"/>
            </a:pPr>
            <a:r>
              <a:rPr lang="en-US" b="1" dirty="0">
                <a:solidFill>
                  <a:srgbClr val="0EC8B6"/>
                </a:solidFill>
                <a:latin typeface="Bahnschrift" panose="020B0502040204020203" pitchFamily="34" charset="0"/>
              </a:rPr>
              <a:t>Action:</a:t>
            </a:r>
            <a:r>
              <a:rPr lang="en-US" dirty="0">
                <a:solidFill>
                  <a:srgbClr val="0EC8B6"/>
                </a:solidFill>
                <a:latin typeface="Bahnschrift" panose="020B0502040204020203" pitchFamily="34" charset="0"/>
              </a:rPr>
              <a:t> We can roll out tiered bulk-order discounts and extend short-term credit lines for strategic U.S. partners.</a:t>
            </a:r>
          </a:p>
          <a:p>
            <a:pPr>
              <a:buFont typeface="Arial" panose="020B0604020202020204" pitchFamily="34" charset="0"/>
              <a:buChar char="•"/>
            </a:pPr>
            <a:r>
              <a:rPr lang="en-US" b="1" dirty="0">
                <a:solidFill>
                  <a:srgbClr val="0EC8B6"/>
                </a:solidFill>
                <a:latin typeface="Bahnschrift" panose="020B0502040204020203" pitchFamily="34" charset="0"/>
              </a:rPr>
              <a:t>Benefit:</a:t>
            </a:r>
            <a:r>
              <a:rPr lang="en-US" dirty="0">
                <a:solidFill>
                  <a:srgbClr val="0EC8B6"/>
                </a:solidFill>
                <a:latin typeface="Bahnschrift" panose="020B0502040204020203" pitchFamily="34" charset="0"/>
              </a:rPr>
              <a:t> Encourages higher purchase volumes from America’s many lower-average-value accounts, boosts overall order size and strengthens long-term customer loyalty through flexible payment terms.</a:t>
            </a:r>
          </a:p>
          <a:p>
            <a:r>
              <a:rPr lang="en-US" dirty="0">
                <a:solidFill>
                  <a:srgbClr val="0EC8B6"/>
                </a:solidFill>
                <a:latin typeface="Bahnschrift" panose="020B0502040204020203" pitchFamily="34" charset="0"/>
              </a:rPr>
              <a:t>Bulk purchase opportunities to accounts in USA as they are the leaders across all the product lines but their individual average account contribution is low. Providing credit opportunities on bulk purchase.</a:t>
            </a:r>
          </a:p>
          <a:p>
            <a:r>
              <a:rPr lang="en-US" dirty="0">
                <a:solidFill>
                  <a:srgbClr val="0EC8B6"/>
                </a:solidFill>
                <a:latin typeface="Bahnschrift" panose="020B0502040204020203" pitchFamily="34" charset="0"/>
              </a:rPr>
              <a:t>Opening a manufacturing cum recycling / post sales service unit in USA might seem profitable as accounts in USA purchase the most, collecting the spare parts and re-using them on products might prove to be a trust booster for the customers and also tackle </a:t>
            </a:r>
            <a:r>
              <a:rPr lang="en-US" dirty="0" err="1">
                <a:solidFill>
                  <a:srgbClr val="0EC8B6"/>
                </a:solidFill>
                <a:latin typeface="Bahnschrift" panose="020B0502040204020203" pitchFamily="34" charset="0"/>
              </a:rPr>
              <a:t>wasteage</a:t>
            </a:r>
            <a:r>
              <a:rPr lang="en-US" dirty="0">
                <a:solidFill>
                  <a:srgbClr val="0EC8B6"/>
                </a:solidFill>
                <a:latin typeface="Bahnschrift" panose="020B0502040204020203" pitchFamily="34" charset="0"/>
              </a:rPr>
              <a:t> or logistics related concerns.</a:t>
            </a:r>
          </a:p>
          <a:p>
            <a:pPr>
              <a:buNone/>
            </a:pPr>
            <a:r>
              <a:rPr lang="en-US" b="1" dirty="0">
                <a:solidFill>
                  <a:srgbClr val="0EC8B6"/>
                </a:solidFill>
                <a:latin typeface="Bahnschrift" panose="020B0502040204020203" pitchFamily="34" charset="0"/>
              </a:rPr>
              <a:t>Integrated Service &amp; Recycling Hub in North America</a:t>
            </a:r>
            <a:endParaRPr lang="en-US" dirty="0">
              <a:solidFill>
                <a:srgbClr val="0EC8B6"/>
              </a:solidFill>
              <a:latin typeface="Bahnschrift" panose="020B0502040204020203" pitchFamily="34" charset="0"/>
            </a:endParaRPr>
          </a:p>
          <a:p>
            <a:pPr>
              <a:buFont typeface="Arial" panose="020B0604020202020204" pitchFamily="34" charset="0"/>
              <a:buChar char="•"/>
            </a:pPr>
            <a:r>
              <a:rPr lang="en-US" b="1" dirty="0">
                <a:solidFill>
                  <a:srgbClr val="0EC8B6"/>
                </a:solidFill>
                <a:latin typeface="Bahnschrift" panose="020B0502040204020203" pitchFamily="34" charset="0"/>
              </a:rPr>
              <a:t>Target Markets:</a:t>
            </a:r>
            <a:r>
              <a:rPr lang="en-US" dirty="0">
                <a:solidFill>
                  <a:srgbClr val="0EC8B6"/>
                </a:solidFill>
                <a:latin typeface="Bahnschrift" panose="020B0502040204020203" pitchFamily="34" charset="0"/>
              </a:rPr>
              <a:t> United States</a:t>
            </a:r>
          </a:p>
          <a:p>
            <a:pPr>
              <a:buFont typeface="Arial" panose="020B0604020202020204" pitchFamily="34" charset="0"/>
              <a:buChar char="•"/>
            </a:pPr>
            <a:r>
              <a:rPr lang="en-US" b="1" dirty="0">
                <a:solidFill>
                  <a:srgbClr val="0EC8B6"/>
                </a:solidFill>
                <a:latin typeface="Bahnschrift" panose="020B0502040204020203" pitchFamily="34" charset="0"/>
              </a:rPr>
              <a:t>Action:</a:t>
            </a:r>
            <a:r>
              <a:rPr lang="en-US" dirty="0">
                <a:solidFill>
                  <a:srgbClr val="0EC8B6"/>
                </a:solidFill>
                <a:latin typeface="Bahnschrift" panose="020B0502040204020203" pitchFamily="34" charset="0"/>
              </a:rPr>
              <a:t> We can establish a combined post-sales service and parts-recycling center to collect, refurbish, and redeploy components.</a:t>
            </a:r>
          </a:p>
          <a:p>
            <a:pPr>
              <a:buFont typeface="Arial" panose="020B0604020202020204" pitchFamily="34" charset="0"/>
              <a:buChar char="•"/>
            </a:pPr>
            <a:r>
              <a:rPr lang="en-US" b="1" dirty="0">
                <a:solidFill>
                  <a:srgbClr val="0EC8B6"/>
                </a:solidFill>
                <a:latin typeface="Bahnschrift" panose="020B0502040204020203" pitchFamily="34" charset="0"/>
              </a:rPr>
              <a:t>Benefit:</a:t>
            </a:r>
            <a:r>
              <a:rPr lang="en-US" dirty="0">
                <a:solidFill>
                  <a:srgbClr val="0EC8B6"/>
                </a:solidFill>
                <a:latin typeface="Bahnschrift" panose="020B0502040204020203" pitchFamily="34" charset="0"/>
              </a:rPr>
              <a:t> Enhances customer trust by offering rapid maintenance support, reduces waste and logistics complexity, and creates a new revenue stream from remanufactured spare parts.</a:t>
            </a:r>
          </a:p>
          <a:p>
            <a:pPr marL="0" indent="0">
              <a:buNone/>
            </a:pPr>
            <a:endParaRPr lang="en-IN" dirty="0">
              <a:solidFill>
                <a:srgbClr val="0EC8B6"/>
              </a:solidFill>
              <a:latin typeface="Bahnschrift" panose="020B0502040204020203" pitchFamily="34" charset="0"/>
            </a:endParaRPr>
          </a:p>
        </p:txBody>
      </p:sp>
    </p:spTree>
    <p:extLst>
      <p:ext uri="{BB962C8B-B14F-4D97-AF65-F5344CB8AC3E}">
        <p14:creationId xmlns:p14="http://schemas.microsoft.com/office/powerpoint/2010/main" val="1287546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1485981"/>
          </a:xfrm>
        </p:spPr>
        <p:txBody>
          <a:bodyPr/>
          <a:lstStyle/>
          <a:p>
            <a:r>
              <a:rPr lang="en-US" dirty="0"/>
              <a:t>Kunal Sarkar</a:t>
            </a:r>
          </a:p>
          <a:p>
            <a:r>
              <a:rPr lang="en-US" dirty="0"/>
              <a:t>9903779913</a:t>
            </a:r>
          </a:p>
          <a:p>
            <a:r>
              <a:rPr lang="en-US" dirty="0"/>
              <a:t>iamkunalsarkar@live.com</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{D04ACB24-41A2-4ACB-AE66-DB556737AF40}tf78438558_win32</Template>
  <TotalTime>17551</TotalTime>
  <Words>2929</Words>
  <Application>Microsoft Office PowerPoint</Application>
  <PresentationFormat>Widescreen</PresentationFormat>
  <Paragraphs>233</Paragraphs>
  <Slides>38</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Arial Black</vt:lpstr>
      <vt:lpstr>Arial Narrow</vt:lpstr>
      <vt:lpstr>Bahnschrift</vt:lpstr>
      <vt:lpstr>Calibri</vt:lpstr>
      <vt:lpstr>Sabon Next LT</vt:lpstr>
      <vt:lpstr>Custom</vt:lpstr>
      <vt:lpstr>MRA-RFM Analysis          By KUNAL Sarkar</vt:lpstr>
      <vt:lpstr>agenda</vt:lpstr>
      <vt:lpstr>The Problem</vt:lpstr>
      <vt:lpstr>PowerPoint Presentation</vt:lpstr>
      <vt:lpstr>PowerPoint Presentation</vt:lpstr>
      <vt:lpstr>PowerPoint Presentation</vt:lpstr>
      <vt:lpstr>PowerPoint Presentation</vt:lpstr>
      <vt:lpstr>Global Sales Leaderboard   n=5</vt:lpstr>
      <vt:lpstr>PowerPoint Presentation</vt:lpstr>
      <vt:lpstr>Global Sales Leaderboard</vt:lpstr>
      <vt:lpstr>PowerPoint Presentation</vt:lpstr>
      <vt:lpstr>The Yearly Line Graph</vt:lpstr>
      <vt:lpstr>PowerPoint Presentation</vt:lpstr>
      <vt:lpstr>Customers wRT Orders</vt:lpstr>
      <vt:lpstr>PowerPoint Presentation</vt:lpstr>
      <vt:lpstr>Customers ranked by Qt ordered</vt:lpstr>
      <vt:lpstr>PowerPoint Presentation</vt:lpstr>
      <vt:lpstr>PowerPoint Presentation</vt:lpstr>
      <vt:lpstr>Order Pattern by N Customers</vt:lpstr>
      <vt:lpstr>PowerPoint Presentation</vt:lpstr>
      <vt:lpstr>Countries with order disputes</vt:lpstr>
      <vt:lpstr>RFM in a B2b context</vt:lpstr>
      <vt:lpstr>Problems that can be solved with RFM</vt:lpstr>
      <vt:lpstr>RFM using Knime</vt:lpstr>
      <vt:lpstr>PowerPoint Presentation</vt:lpstr>
      <vt:lpstr>Navigating through the output</vt:lpstr>
      <vt:lpstr>PowerPoint Presentation</vt:lpstr>
      <vt:lpstr>Ranking the outcomes</vt:lpstr>
      <vt:lpstr>PowerPoint Presentation</vt:lpstr>
      <vt:lpstr>The Core analysis</vt:lpstr>
      <vt:lpstr>Understanding the contribution</vt:lpstr>
      <vt:lpstr>PowerPoint Presentation</vt:lpstr>
      <vt:lpstr>Marketing Budget allocation</vt:lpstr>
      <vt:lpstr>Recommendations for cRM</vt:lpstr>
      <vt:lpstr>PowerPoint Presentation</vt:lpstr>
      <vt:lpstr>Strategic recommendations</vt:lpstr>
      <vt:lpstr>Strategic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kunal sarkar</dc:creator>
  <cp:lastModifiedBy>kunal sarkar</cp:lastModifiedBy>
  <cp:revision>14</cp:revision>
  <dcterms:created xsi:type="dcterms:W3CDTF">2025-04-25T07:50:03Z</dcterms:created>
  <dcterms:modified xsi:type="dcterms:W3CDTF">2026-04-04T03:13:17Z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